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87" r:id="rId2"/>
    <p:sldId id="258" r:id="rId3"/>
    <p:sldId id="259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500" r:id="rId29"/>
    <p:sldId id="501" r:id="rId30"/>
    <p:sldId id="503" r:id="rId31"/>
    <p:sldId id="502" r:id="rId32"/>
    <p:sldId id="401" r:id="rId33"/>
    <p:sldId id="402" r:id="rId34"/>
    <p:sldId id="504" r:id="rId35"/>
    <p:sldId id="505" r:id="rId36"/>
    <p:sldId id="506" r:id="rId37"/>
    <p:sldId id="507" r:id="rId38"/>
    <p:sldId id="508" r:id="rId39"/>
    <p:sldId id="509" r:id="rId40"/>
  </p:sldIdLst>
  <p:sldSz cx="12192000" cy="6858000"/>
  <p:notesSz cx="6858000" cy="9144000"/>
  <p:defaultTextStyle>
    <a:defPPr>
      <a:defRPr lang="en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9090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7"/>
    <p:restoredTop sz="94719"/>
  </p:normalViewPr>
  <p:slideViewPr>
    <p:cSldViewPr>
      <p:cViewPr varScale="1">
        <p:scale>
          <a:sx n="101" d="100"/>
          <a:sy n="101" d="100"/>
        </p:scale>
        <p:origin x="138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68" d="100"/>
          <a:sy n="168" d="100"/>
        </p:scale>
        <p:origin x="6640" y="216"/>
      </p:cViewPr>
      <p:guideLst/>
    </p:cSldViewPr>
  </p:notesViewPr>
  <p:gridSpacing cx="120014" cy="12001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320C36-DC24-9ED4-9285-F5D0B778F4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43042-8AE0-5CD3-2129-3208B06289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7E257-C412-4242-A355-113E9CC09C74}" type="datetimeFigureOut">
              <a:rPr lang="en-CZ" smtClean="0"/>
              <a:t>09/29/2026</a:t>
            </a:fld>
            <a:endParaRPr lang="en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6CDA26-C1FF-94A3-C007-15CD1CC727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A3F51-E3B4-B290-9045-934B6BA49CA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26D12-D636-824E-9AE4-A01881B3441F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8854084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39C9E-DFEA-E74F-96C8-E003C538A4D5}" type="datetimeFigureOut">
              <a:rPr lang="en-CZ" smtClean="0"/>
              <a:t>09/29/2026</a:t>
            </a:fld>
            <a:endParaRPr lang="en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BFD19-864A-2B40-B388-40CB282C2D58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81508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screen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rectangular object with black text&#10;&#10;AI-generated content may be incorrect.">
            <a:extLst>
              <a:ext uri="{FF2B5EF4-FFF2-40B4-BE49-F238E27FC236}">
                <a16:creationId xmlns:a16="http://schemas.microsoft.com/office/drawing/2014/main" id="{9FB51FD0-70D5-87C5-73B4-E4694559EE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" name="Image 2" descr=" ">
            <a:extLst>
              <a:ext uri="{FF2B5EF4-FFF2-40B4-BE49-F238E27FC236}">
                <a16:creationId xmlns:a16="http://schemas.microsoft.com/office/drawing/2014/main" id="{F696AA6D-7B2B-9E7A-16B9-E36EB7D493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2419" y="6238229"/>
            <a:ext cx="199407" cy="18583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C61645C-D48D-090F-C2EE-55373066A0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95510" y="463277"/>
            <a:ext cx="3813857" cy="232185"/>
          </a:xfrm>
        </p:spPr>
        <p:txBody>
          <a:bodyPr lIns="0" anchor="ctr">
            <a:normAutofit/>
          </a:bodyPr>
          <a:lstStyle>
            <a:lvl1pPr marL="0" indent="0" algn="ctr">
              <a:buNone/>
              <a:defRPr sz="135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CZ" dirty="0"/>
              <a:t>C1 Úroveň zabezpečení | XX.XX.XXXX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BF70079-2AB8-E980-0B3D-21FADCC9C1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28" y="1013282"/>
            <a:ext cx="6480756" cy="2366480"/>
          </a:xfrm>
        </p:spPr>
        <p:txBody>
          <a:bodyPr anchor="b">
            <a:normAutofit/>
          </a:bodyPr>
          <a:lstStyle>
            <a:lvl1pPr marL="0" indent="0" algn="ctr">
              <a:buFontTx/>
              <a:buNone/>
              <a:defRPr sz="4400" spc="-70" baseline="0"/>
            </a:lvl1pPr>
          </a:lstStyle>
          <a:p>
            <a:pPr lvl="0"/>
            <a:r>
              <a:rPr lang="en-CZ" dirty="0"/>
              <a:t>Presentation Title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268D20D9-FA91-EC73-296F-A97036CC94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28" y="3515889"/>
            <a:ext cx="6480756" cy="1902833"/>
          </a:xfr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buFontTx/>
              <a:buNone/>
              <a:defRPr sz="2100" b="1" i="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Speaker 1, Job Position</a:t>
            </a:r>
          </a:p>
          <a:p>
            <a:pPr lvl="0"/>
            <a:r>
              <a:rPr lang="en-GB" dirty="0"/>
              <a:t>Speaker 2, Job Position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788007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scree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square object with a red background&#10;&#10;AI-generated content may be incorrect.">
            <a:extLst>
              <a:ext uri="{FF2B5EF4-FFF2-40B4-BE49-F238E27FC236}">
                <a16:creationId xmlns:a16="http://schemas.microsoft.com/office/drawing/2014/main" id="{113C6E9E-01AF-99AB-57DB-2005572AEB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3DDC89A-E0DD-37E1-29F2-14EE3B42A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2772" y="4210275"/>
            <a:ext cx="9757753" cy="1576834"/>
          </a:xfr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5750" spc="-22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Z" dirty="0"/>
              <a:t>Presentation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F5FFD48-1135-003F-BE12-A4D8BD8830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7286" y="540768"/>
            <a:ext cx="9757441" cy="232185"/>
          </a:xfrm>
        </p:spPr>
        <p:txBody>
          <a:bodyPr lIns="90000" anchor="ctr">
            <a:normAutofit/>
          </a:bodyPr>
          <a:lstStyle>
            <a:lvl1pPr marL="0" indent="0" algn="l">
              <a:buNone/>
              <a:defRPr sz="1350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Z" dirty="0"/>
              <a:t>C1 Úroveň zabezpečení | XX.XX.XXXX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39D871D-D5C0-96BF-2D9E-DF255FDCB0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6975" y="3258882"/>
            <a:ext cx="9757752" cy="809625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sz="2100" b="1" i="0" spc="-60" baseline="0">
                <a:solidFill>
                  <a:schemeClr val="bg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Speaker Name, Job Position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3554832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16C53D5-A182-DB76-1541-03C096A403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36968" y="2670248"/>
            <a:ext cx="6480756" cy="2366480"/>
          </a:xfrm>
        </p:spPr>
        <p:txBody>
          <a:bodyPr anchor="b">
            <a:normAutofit/>
          </a:bodyPr>
          <a:lstStyle>
            <a:lvl1pPr marL="0" indent="0" algn="l">
              <a:buFontTx/>
              <a:buNone/>
              <a:defRPr sz="4400" spc="-70" baseline="0"/>
            </a:lvl1pPr>
          </a:lstStyle>
          <a:p>
            <a:pPr lvl="0"/>
            <a:r>
              <a:rPr lang="en-CZ" dirty="0"/>
              <a:t>Section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60507C64-1E1A-B976-EDA8-92A6D207CE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36968" y="564034"/>
            <a:ext cx="6480756" cy="192141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FontTx/>
              <a:buNone/>
              <a:defRPr sz="2100" b="1" i="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1 A</a:t>
            </a:r>
            <a:endParaRPr lang="en-CZ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FCEA7A-4C33-A425-8D36-AEB6FC3946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4068773" cy="68580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pic>
        <p:nvPicPr>
          <p:cNvPr id="15" name="Picture 14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4A4EF927-3407-5CAD-43C4-A7FC5993C6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25888" y="6096903"/>
            <a:ext cx="782541" cy="30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0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16C53D5-A182-DB76-1541-03C096A403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6590" y="2670248"/>
            <a:ext cx="6480756" cy="2366480"/>
          </a:xfrm>
        </p:spPr>
        <p:txBody>
          <a:bodyPr anchor="b">
            <a:normAutofit/>
          </a:bodyPr>
          <a:lstStyle>
            <a:lvl1pPr marL="0" indent="0" algn="l">
              <a:buFontTx/>
              <a:buNone/>
              <a:defRPr sz="4400" spc="-70" baseline="0"/>
            </a:lvl1pPr>
          </a:lstStyle>
          <a:p>
            <a:pPr lvl="0"/>
            <a:r>
              <a:rPr lang="en-CZ" dirty="0"/>
              <a:t>Section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60507C64-1E1A-B976-EDA8-92A6D207CE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2707" y="564034"/>
            <a:ext cx="6480756" cy="192141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FontTx/>
              <a:buNone/>
              <a:defRPr sz="2100" b="1" i="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1 A</a:t>
            </a:r>
            <a:endParaRPr lang="en-CZ" dirty="0"/>
          </a:p>
        </p:txBody>
      </p:sp>
      <p:pic>
        <p:nvPicPr>
          <p:cNvPr id="15" name="Picture 14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4A4EF927-3407-5CAD-43C4-A7FC5993C6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5598" y="6096903"/>
            <a:ext cx="782541" cy="30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68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ackground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B2137E87-0830-5333-70AF-71211948C9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16C53D5-A182-DB76-1541-03C096A403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6590" y="2670248"/>
            <a:ext cx="6480756" cy="2366480"/>
          </a:xfrm>
        </p:spPr>
        <p:txBody>
          <a:bodyPr anchor="b">
            <a:normAutofit/>
          </a:bodyPr>
          <a:lstStyle>
            <a:lvl1pPr marL="0" indent="0" algn="l">
              <a:buFontTx/>
              <a:buNone/>
              <a:defRPr sz="4400" spc="-7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Z" dirty="0"/>
              <a:t>Section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60507C64-1E1A-B976-EDA8-92A6D207CE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2707" y="564034"/>
            <a:ext cx="6480756" cy="192141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FontTx/>
              <a:buNone/>
              <a:defRPr sz="2100" b="1" i="0" spc="-60" baseline="0">
                <a:solidFill>
                  <a:schemeClr val="bg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1 A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4254419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ru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3DDC89A-E0DD-37E1-29F2-14EE3B42A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2772" y="3124041"/>
            <a:ext cx="9757753" cy="1576834"/>
          </a:xfrm>
        </p:spPr>
        <p:txBody>
          <a:bodyPr anchor="t">
            <a:normAutofit/>
          </a:bodyPr>
          <a:lstStyle>
            <a:lvl1pPr marL="0" indent="0" algn="ctr">
              <a:buFontTx/>
              <a:buNone/>
              <a:defRPr sz="5750" spc="-2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Z" dirty="0"/>
              <a:t>Rule number one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39D871D-D5C0-96BF-2D9E-DF255FDCB0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7286" y="2480465"/>
            <a:ext cx="9769715" cy="668124"/>
          </a:xfrm>
        </p:spPr>
        <p:txBody>
          <a:bodyPr anchor="b">
            <a:normAutofit/>
          </a:bodyPr>
          <a:lstStyle>
            <a:lvl1pPr marL="0" indent="0" algn="ctr">
              <a:buFontTx/>
              <a:buNone/>
              <a:defRPr sz="2600" b="1" i="0" spc="-60" baseline="0">
                <a:solidFill>
                  <a:srgbClr val="909090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Rule #1</a:t>
            </a:r>
            <a:endParaRPr lang="en-CZ" dirty="0"/>
          </a:p>
        </p:txBody>
      </p:sp>
      <p:pic>
        <p:nvPicPr>
          <p:cNvPr id="4" name="Picture 3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BE6F4253-66D5-BFAF-D7A8-A3DE4917DE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04729" y="6096903"/>
            <a:ext cx="782541" cy="30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04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rul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black curved object&#10;&#10;AI-generated content may be incorrect.">
            <a:extLst>
              <a:ext uri="{FF2B5EF4-FFF2-40B4-BE49-F238E27FC236}">
                <a16:creationId xmlns:a16="http://schemas.microsoft.com/office/drawing/2014/main" id="{642FFEE4-A78C-ED95-44C1-9D47F5FB80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3DDC89A-E0DD-37E1-29F2-14EE3B42A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2772" y="3124041"/>
            <a:ext cx="9757753" cy="1576834"/>
          </a:xfrm>
        </p:spPr>
        <p:txBody>
          <a:bodyPr anchor="t">
            <a:normAutofit/>
          </a:bodyPr>
          <a:lstStyle>
            <a:lvl1pPr marL="0" indent="0" algn="ctr">
              <a:buFontTx/>
              <a:buNone/>
              <a:defRPr sz="5750" spc="-22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Z" dirty="0"/>
              <a:t>Rule number one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39D871D-D5C0-96BF-2D9E-DF255FDCB0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7286" y="2480465"/>
            <a:ext cx="9769715" cy="668124"/>
          </a:xfrm>
        </p:spPr>
        <p:txBody>
          <a:bodyPr anchor="b">
            <a:normAutofit/>
          </a:bodyPr>
          <a:lstStyle>
            <a:lvl1pPr marL="0" indent="0" algn="ctr">
              <a:buFontTx/>
              <a:buNone/>
              <a:defRPr sz="2600" b="1" i="0" spc="-60" baseline="0">
                <a:solidFill>
                  <a:schemeClr val="bg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Rule #1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263958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291577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card&#10;&#10;Description automatically generated">
            <a:extLst>
              <a:ext uri="{FF2B5EF4-FFF2-40B4-BE49-F238E27FC236}">
                <a16:creationId xmlns:a16="http://schemas.microsoft.com/office/drawing/2014/main" id="{1873D2AC-18FB-989A-FE44-E9B5CD924E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434557A-F92F-323B-739D-76CD5718A1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805651"/>
            <a:ext cx="5715000" cy="4588971"/>
          </a:xfrm>
        </p:spPr>
        <p:txBody>
          <a:bodyPr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887A2D13-2D2B-57A4-8C70-B8EA29514A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639" y="1809750"/>
            <a:ext cx="5702441" cy="4584872"/>
          </a:xfrm>
        </p:spPr>
        <p:txBody>
          <a:bodyPr rIns="324000"/>
          <a:lstStyle/>
          <a:p>
            <a:pPr lvl="2"/>
            <a:r>
              <a:rPr lang="en-CZ" dirty="0"/>
              <a:t>Cras auctor,justo non</a:t>
            </a:r>
          </a:p>
          <a:p>
            <a:pPr lvl="2"/>
            <a:r>
              <a:rPr lang="en-CZ" dirty="0"/>
              <a:t>Vestibulum volutpat, ex et placerat</a:t>
            </a:r>
          </a:p>
          <a:p>
            <a:pPr lvl="2"/>
            <a:r>
              <a:rPr lang="en-CZ" dirty="0"/>
              <a:t>Curabitur sed</a:t>
            </a:r>
          </a:p>
          <a:p>
            <a:pPr lvl="2"/>
            <a:endParaRPr lang="en-CZ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7FD77BC-6290-0713-A2B1-5AC240CC27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7189BC2-BE25-1E96-16E9-0C5197E772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6561" y="1430793"/>
            <a:ext cx="5710639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41661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Tiles–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white rectangular object with black dots&#10;&#10;Description automatically generated">
            <a:extLst>
              <a:ext uri="{FF2B5EF4-FFF2-40B4-BE49-F238E27FC236}">
                <a16:creationId xmlns:a16="http://schemas.microsoft.com/office/drawing/2014/main" id="{D0A56A95-2651-7BE3-CCA5-6FFD90663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434557A-F92F-323B-739D-76CD5718A1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805651"/>
            <a:ext cx="3748675" cy="4588971"/>
          </a:xfrm>
        </p:spPr>
        <p:txBody>
          <a:bodyPr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887A2D13-2D2B-57A4-8C70-B8EA29514A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23474" y="1809750"/>
            <a:ext cx="3748674" cy="4584872"/>
          </a:xfrm>
        </p:spPr>
        <p:txBody>
          <a:bodyPr rIns="324000"/>
          <a:lstStyle/>
          <a:p>
            <a:pPr lvl="2"/>
            <a:r>
              <a:rPr lang="en-CZ" dirty="0"/>
              <a:t>Cras auctor,justo non</a:t>
            </a:r>
          </a:p>
          <a:p>
            <a:pPr lvl="2"/>
            <a:r>
              <a:rPr lang="en-CZ" dirty="0"/>
              <a:t>Vestibulum volutpat, ex et placerat</a:t>
            </a:r>
          </a:p>
          <a:p>
            <a:pPr lvl="2"/>
            <a:r>
              <a:rPr lang="en-CZ" dirty="0"/>
              <a:t>Curabitur sed</a:t>
            </a:r>
          </a:p>
          <a:p>
            <a:pPr lvl="2"/>
            <a:endParaRPr lang="en-CZ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7189BC2-BE25-1E96-16E9-0C5197E772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3475" y="1430793"/>
            <a:ext cx="3748674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FF836928-D44A-F6A4-55EF-EEE3A562A4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1650" y="1809750"/>
            <a:ext cx="3765550" cy="4584872"/>
          </a:xfrm>
        </p:spPr>
        <p:txBody>
          <a:bodyPr rIns="324000"/>
          <a:lstStyle/>
          <a:p>
            <a:pPr lvl="0"/>
            <a:r>
              <a:rPr lang="en-CZ" dirty="0"/>
              <a:t>Donec ultricies, nisi eget porttitor.</a:t>
            </a:r>
          </a:p>
          <a:p>
            <a:pPr lvl="2"/>
            <a:r>
              <a:rPr lang="en-CZ" dirty="0"/>
              <a:t>Mauris in porta sapien. Morbi.</a:t>
            </a:r>
          </a:p>
          <a:p>
            <a:pPr lvl="2"/>
            <a:r>
              <a:rPr lang="en-CZ" dirty="0"/>
              <a:t>Nulla turpis magna, malesuada.</a:t>
            </a:r>
          </a:p>
          <a:p>
            <a:pPr lvl="2"/>
            <a:r>
              <a:rPr lang="en-CZ" dirty="0"/>
              <a:t>Nunc feugiat nunc.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3E1FDA4-9661-C8FC-6074-D7BC1D4F61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5472" y="1433968"/>
            <a:ext cx="3768077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604AEA9-C1EA-BD25-22E7-0C6F4BC7A9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3753759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04024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Tiles–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white rectangular object with black lines&#10;&#10;Description automatically generated">
            <a:extLst>
              <a:ext uri="{FF2B5EF4-FFF2-40B4-BE49-F238E27FC236}">
                <a16:creationId xmlns:a16="http://schemas.microsoft.com/office/drawing/2014/main" id="{C72BF794-86A9-C2D6-8D24-126A16020A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434557A-F92F-323B-739D-76CD5718A1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805651"/>
            <a:ext cx="5706870" cy="1865699"/>
          </a:xfrm>
        </p:spPr>
        <p:txBody>
          <a:bodyPr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887A2D13-2D2B-57A4-8C70-B8EA29514A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3835" y="4528922"/>
            <a:ext cx="5711954" cy="1865699"/>
          </a:xfrm>
        </p:spPr>
        <p:txBody>
          <a:bodyPr rIns="324000"/>
          <a:lstStyle/>
          <a:p>
            <a:pPr lvl="2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ultricies</a:t>
            </a:r>
            <a:r>
              <a:rPr lang="en-GB" dirty="0">
                <a:effectLst/>
              </a:rPr>
              <a:t>, nisi </a:t>
            </a:r>
            <a:r>
              <a:rPr lang="en-GB" dirty="0" err="1">
                <a:effectLst/>
              </a:rPr>
              <a:t>eget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porttitor</a:t>
            </a:r>
            <a:r>
              <a:rPr lang="en-GB" dirty="0">
                <a:effectLst/>
              </a:rPr>
              <a:t>.</a:t>
            </a:r>
          </a:p>
          <a:p>
            <a:pPr lvl="2"/>
            <a:r>
              <a:rPr lang="en-GB" dirty="0" err="1">
                <a:effectLst/>
              </a:rPr>
              <a:t>Mauris</a:t>
            </a:r>
            <a:r>
              <a:rPr lang="en-GB" dirty="0">
                <a:effectLst/>
              </a:rPr>
              <a:t> in porta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. Morbi.</a:t>
            </a:r>
          </a:p>
          <a:p>
            <a:pPr lvl="2"/>
            <a:r>
              <a:rPr lang="en-GB" dirty="0" err="1">
                <a:effectLst/>
              </a:rPr>
              <a:t>Nulla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turpis</a:t>
            </a:r>
            <a:r>
              <a:rPr lang="en-GB" dirty="0">
                <a:effectLst/>
              </a:rPr>
              <a:t> magna,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.</a:t>
            </a:r>
          </a:p>
          <a:p>
            <a:pPr lvl="2"/>
            <a:r>
              <a:rPr lang="en-GB" dirty="0">
                <a:effectLst/>
              </a:rPr>
              <a:t>Nunc </a:t>
            </a:r>
            <a:r>
              <a:rPr lang="en-GB" dirty="0" err="1">
                <a:effectLst/>
              </a:rPr>
              <a:t>feugiat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.</a:t>
            </a:r>
            <a:endParaRPr lang="en-CZ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7189BC2-BE25-1E96-16E9-0C5197E772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7926" y="4159083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604AEA9-C1EA-BD25-22E7-0C6F4BC7A9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A6A74171-E976-3643-BF25-896194A80B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297" y="1805651"/>
            <a:ext cx="5706870" cy="1865699"/>
          </a:xfrm>
        </p:spPr>
        <p:txBody>
          <a:bodyPr rIns="324000"/>
          <a:lstStyle/>
          <a:p>
            <a:pPr lvl="4"/>
            <a:r>
              <a:rPr lang="en-GB" dirty="0">
                <a:effectLst/>
              </a:rPr>
              <a:t>Cras auctor,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</a:t>
            </a:r>
          </a:p>
          <a:p>
            <a:pPr lvl="4"/>
            <a:r>
              <a:rPr lang="en-GB" dirty="0">
                <a:effectLst/>
              </a:rPr>
              <a:t>Vestibulum </a:t>
            </a:r>
            <a:r>
              <a:rPr lang="en-GB" dirty="0" err="1">
                <a:effectLst/>
              </a:rPr>
              <a:t>volutpat</a:t>
            </a:r>
            <a:r>
              <a:rPr lang="en-GB" dirty="0">
                <a:effectLst/>
              </a:rPr>
              <a:t>, ex et </a:t>
            </a:r>
            <a:r>
              <a:rPr lang="en-GB" dirty="0" err="1">
                <a:effectLst/>
              </a:rPr>
              <a:t>placerat</a:t>
            </a:r>
            <a:endParaRPr lang="en-GB" dirty="0">
              <a:effectLst/>
            </a:endParaRPr>
          </a:p>
          <a:p>
            <a:pPr lvl="4"/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sed</a:t>
            </a:r>
            <a:endParaRPr lang="en-CZ" dirty="0"/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BBBD009F-15D0-60CD-B3CA-988DFB10F9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76213" y="4528922"/>
            <a:ext cx="5711954" cy="1865699"/>
          </a:xfrm>
        </p:spPr>
        <p:txBody>
          <a:bodyPr rIns="324000"/>
          <a:lstStyle/>
          <a:p>
            <a:pPr lvl="2"/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, lorem at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 dictum.</a:t>
            </a:r>
          </a:p>
          <a:p>
            <a:pPr lvl="2"/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magna. </a:t>
            </a:r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ex.</a:t>
            </a:r>
          </a:p>
          <a:p>
            <a:pPr lvl="2"/>
            <a:r>
              <a:rPr lang="en-GB" dirty="0">
                <a:effectLst/>
              </a:rPr>
              <a:t>Aenean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aliquet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neque</a:t>
            </a:r>
            <a:r>
              <a:rPr lang="en-GB" dirty="0">
                <a:effectLst/>
              </a:rPr>
              <a:t>.</a:t>
            </a:r>
          </a:p>
          <a:p>
            <a:pPr lvl="2"/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.</a:t>
            </a:r>
            <a:endParaRPr lang="en-CZ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6D00DAC-600E-653C-1D40-A87E3A064EF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0304" y="4159083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7C08DB3-E084-4CE9-0A02-26C5C499DF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76213" y="1430793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42021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Tiles–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white rectangular object with black lines&#10;&#10;Description automatically generated">
            <a:extLst>
              <a:ext uri="{FF2B5EF4-FFF2-40B4-BE49-F238E27FC236}">
                <a16:creationId xmlns:a16="http://schemas.microsoft.com/office/drawing/2014/main" id="{6CA2F6AE-3BF0-564A-2189-7F2EF7BA7F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7189BC2-BE25-1E96-16E9-0C5197E772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7926" y="3836355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Proin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ornare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commodo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consectetur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vulputate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lectus</a:t>
            </a:r>
            <a:r>
              <a:rPr lang="en-GB" dirty="0">
                <a:effectLst/>
              </a:rPr>
              <a:t>,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sagittis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purus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iaculis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501CA1E-D2CD-EDC4-D9AC-9729D86EEC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7926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Duis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sollicitudin</a:t>
            </a:r>
            <a:r>
              <a:rPr lang="en-GB" dirty="0">
                <a:effectLst/>
              </a:rPr>
              <a:t> nisi. </a:t>
            </a:r>
            <a:r>
              <a:rPr lang="en-GB" dirty="0" err="1">
                <a:effectLst/>
              </a:rPr>
              <a:t>Mauris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metus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lobortis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consequat</a:t>
            </a:r>
            <a:r>
              <a:rPr lang="en-GB" dirty="0">
                <a:effectLst/>
              </a:rPr>
              <a:t> in, </a:t>
            </a:r>
            <a:r>
              <a:rPr lang="en-GB" dirty="0" err="1">
                <a:effectLst/>
              </a:rPr>
              <a:t>iaculis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Vivamus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volutpat</a:t>
            </a:r>
            <a:r>
              <a:rPr lang="en-GB" dirty="0">
                <a:effectLst/>
              </a:rPr>
              <a:t> libero. Maecenas vestibulum.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C2FE33D-DF87-F832-AAAD-D8759EEF31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14907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lobortis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. Nam </a:t>
            </a:r>
            <a:r>
              <a:rPr lang="en-GB" dirty="0" err="1">
                <a:effectLst/>
              </a:rPr>
              <a:t>mollis</a:t>
            </a:r>
            <a:r>
              <a:rPr lang="en-GB" dirty="0">
                <a:effectLst/>
              </a:rPr>
              <a:t> fermentum </a:t>
            </a:r>
            <a:r>
              <a:rPr lang="en-GB" dirty="0" err="1">
                <a:effectLst/>
              </a:rPr>
              <a:t>lacus</a:t>
            </a:r>
            <a:r>
              <a:rPr lang="en-GB" dirty="0">
                <a:effectLst/>
              </a:rPr>
              <a:t>. 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A798195-7A30-2172-FD40-31EF699D19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1888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a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risus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imperdiet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lorem.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DFBAB27-E799-03C9-A3C7-0381590EFB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73607" y="3836355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egestas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efficitur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tortor</a:t>
            </a:r>
            <a:r>
              <a:rPr lang="en-GB" dirty="0">
                <a:effectLst/>
              </a:rPr>
              <a:t>, non maximus </a:t>
            </a:r>
            <a:r>
              <a:rPr lang="en-GB" dirty="0" err="1">
                <a:effectLst/>
              </a:rPr>
              <a:t>tortor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 in mi.</a:t>
            </a:r>
          </a:p>
        </p:txBody>
      </p:sp>
    </p:spTree>
    <p:extLst>
      <p:ext uri="{BB962C8B-B14F-4D97-AF65-F5344CB8AC3E}">
        <p14:creationId xmlns:p14="http://schemas.microsoft.com/office/powerpoint/2010/main" val="3266896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Tiles–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quares on a white background&#10;&#10;Description automatically generated">
            <a:extLst>
              <a:ext uri="{FF2B5EF4-FFF2-40B4-BE49-F238E27FC236}">
                <a16:creationId xmlns:a16="http://schemas.microsoft.com/office/drawing/2014/main" id="{415059ED-DF8B-5043-BA2C-743B9405BD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501CA1E-D2CD-EDC4-D9AC-9729D86EEC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7926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Duis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sollicitudin</a:t>
            </a:r>
            <a:r>
              <a:rPr lang="en-GB" dirty="0">
                <a:effectLst/>
              </a:rPr>
              <a:t> nisi. </a:t>
            </a:r>
            <a:r>
              <a:rPr lang="en-GB" dirty="0" err="1">
                <a:effectLst/>
              </a:rPr>
              <a:t>Mauris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metus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lobortis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consequat</a:t>
            </a:r>
            <a:r>
              <a:rPr lang="en-GB" dirty="0">
                <a:effectLst/>
              </a:rPr>
              <a:t> in, </a:t>
            </a:r>
            <a:r>
              <a:rPr lang="en-GB" dirty="0" err="1">
                <a:effectLst/>
              </a:rPr>
              <a:t>iaculis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Vivamus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volutpat</a:t>
            </a:r>
            <a:r>
              <a:rPr lang="en-GB" dirty="0">
                <a:effectLst/>
              </a:rPr>
              <a:t> libero. Maecenas vestibulum.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C2FE33D-DF87-F832-AAAD-D8759EEF31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14907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lobortis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. Nam </a:t>
            </a:r>
            <a:r>
              <a:rPr lang="en-GB" dirty="0" err="1">
                <a:effectLst/>
              </a:rPr>
              <a:t>mollis</a:t>
            </a:r>
            <a:r>
              <a:rPr lang="en-GB" dirty="0">
                <a:effectLst/>
              </a:rPr>
              <a:t> fermentum </a:t>
            </a:r>
            <a:r>
              <a:rPr lang="en-GB" dirty="0" err="1">
                <a:effectLst/>
              </a:rPr>
              <a:t>lacus</a:t>
            </a:r>
            <a:r>
              <a:rPr lang="en-GB" dirty="0">
                <a:effectLst/>
              </a:rPr>
              <a:t>. 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A798195-7A30-2172-FD40-31EF699D19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1888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a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risus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imperdiet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lorem.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7549758-A2DD-D42E-BFDE-03BF460B59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052" y="3838446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Proin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ornare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commodo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consectetur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vulputate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lectus</a:t>
            </a:r>
            <a:r>
              <a:rPr lang="en-GB" dirty="0">
                <a:effectLst/>
              </a:rPr>
              <a:t>,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sagittis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purus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iaculis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408C7F1-4E97-33E6-5C76-0AD1AE80A6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18033" y="3838446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egestas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efficitur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tortor</a:t>
            </a:r>
            <a:r>
              <a:rPr lang="en-GB" dirty="0">
                <a:effectLst/>
              </a:rPr>
              <a:t>, non maximus </a:t>
            </a:r>
            <a:r>
              <a:rPr lang="en-GB" dirty="0" err="1">
                <a:effectLst/>
              </a:rPr>
              <a:t>tortor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 in mi.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80F647A-9366-A7DD-2048-9C1E320BD4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5014" y="3838446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vulputate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urna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pretium</a:t>
            </a:r>
            <a:r>
              <a:rPr lang="en-GB" dirty="0">
                <a:effectLst/>
              </a:rPr>
              <a:t> dictum. </a:t>
            </a:r>
            <a:r>
              <a:rPr lang="en-GB" dirty="0" err="1">
                <a:effectLst/>
              </a:rPr>
              <a:t>Mauris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efficitur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varius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diam</a:t>
            </a:r>
            <a:r>
              <a:rPr lang="en-GB" dirty="0">
                <a:effectLst/>
              </a:rPr>
              <a:t> a </a:t>
            </a:r>
            <a:r>
              <a:rPr lang="en-GB" dirty="0" err="1">
                <a:effectLst/>
              </a:rPr>
              <a:t>tellus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efficitur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. Maecenas </a:t>
            </a:r>
            <a:r>
              <a:rPr lang="en-GB" dirty="0" err="1">
                <a:effectLst/>
              </a:rPr>
              <a:t>feugiat</a:t>
            </a:r>
            <a:r>
              <a:rPr lang="en-GB" dirty="0">
                <a:effectLst/>
              </a:rPr>
              <a:t> ante.</a:t>
            </a:r>
          </a:p>
        </p:txBody>
      </p:sp>
    </p:spTree>
    <p:extLst>
      <p:ext uri="{BB962C8B-B14F-4D97-AF65-F5344CB8AC3E}">
        <p14:creationId xmlns:p14="http://schemas.microsoft.com/office/powerpoint/2010/main" val="1662615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Tile–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88D61EF-9F72-416B-0D60-FAA12B5486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70C7F4C-438D-A8C1-B442-977879FDC3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5" y="1109013"/>
            <a:ext cx="1158433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7FD77BC-6290-0713-A2B1-5AC240CC27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910157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card&#10;&#10;Description automatically generated">
            <a:extLst>
              <a:ext uri="{FF2B5EF4-FFF2-40B4-BE49-F238E27FC236}">
                <a16:creationId xmlns:a16="http://schemas.microsoft.com/office/drawing/2014/main" id="{1953CDB6-D0DB-DC8C-105A-A75847BF36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70C7F4C-438D-A8C1-B442-977879FDC3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5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7FD77BC-6290-0713-A2B1-5AC240CC27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9912CB4-4140-BFD0-34DC-C64D3FBE07C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73167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61BF4BD-0E64-0DBF-120C-1FAFE9CBD2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73167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266198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Tiles–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white rectangular object with black dots&#10;&#10;Description automatically generated">
            <a:extLst>
              <a:ext uri="{FF2B5EF4-FFF2-40B4-BE49-F238E27FC236}">
                <a16:creationId xmlns:a16="http://schemas.microsoft.com/office/drawing/2014/main" id="{2EB4F304-94CF-9885-403A-87909578EA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70C7F4C-438D-A8C1-B442-977879FDC3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6" y="1102642"/>
            <a:ext cx="3769400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7FD77BC-6290-0713-A2B1-5AC240CC27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08FE725D-7C57-F50C-8DCF-37954C00015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11299" y="1106937"/>
            <a:ext cx="3769401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3743C530-F7D4-3A67-E309-896307902E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11299" y="1440749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3ED9C50-B697-3F7F-1F7F-F7B380BF133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18764" y="1102642"/>
            <a:ext cx="3769401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6FEBF151-E5B1-3534-88CD-24D8410A7B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8764" y="1444238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803004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Tiles–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white rectangular object with black lines&#10;&#10;Description automatically generated">
            <a:extLst>
              <a:ext uri="{FF2B5EF4-FFF2-40B4-BE49-F238E27FC236}">
                <a16:creationId xmlns:a16="http://schemas.microsoft.com/office/drawing/2014/main" id="{C72BF794-86A9-C2D6-8D24-126A16020A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61F4D840-AD8A-70EC-BF49-C6E02704207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7743" y="1108744"/>
            <a:ext cx="5706870" cy="2563134"/>
          </a:xfrm>
          <a:prstGeom prst="roundRect">
            <a:avLst>
              <a:gd name="adj" fmla="val 9136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604AEA9-C1EA-BD25-22E7-0C6F4BC7A9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3039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36DC948E-A205-CDE5-9740-DEA2F253763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77387" y="1108744"/>
            <a:ext cx="5706870" cy="2563134"/>
          </a:xfrm>
          <a:prstGeom prst="roundRect">
            <a:avLst>
              <a:gd name="adj" fmla="val 9136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0A1948BC-EFE8-D695-1AE1-BEA2F1F3AE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73479" y="1433039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A1ECD638-8B2D-0E33-7DA4-C1526244836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07743" y="3834025"/>
            <a:ext cx="5706870" cy="2563134"/>
          </a:xfrm>
          <a:prstGeom prst="roundRect">
            <a:avLst>
              <a:gd name="adj" fmla="val 9136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409DC529-660A-5FAF-68AD-1D137FC36D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3835" y="4158320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880F9B78-5A7E-8C54-8457-7EFA8F6CD6F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177387" y="3834025"/>
            <a:ext cx="5706870" cy="2563134"/>
          </a:xfrm>
          <a:prstGeom prst="roundRect">
            <a:avLst>
              <a:gd name="adj" fmla="val 9136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17FF94B-1DDA-95AA-55DD-B18570AF3A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73479" y="4158320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340520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Content+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card&#10;&#10;Description automatically generated">
            <a:extLst>
              <a:ext uri="{FF2B5EF4-FFF2-40B4-BE49-F238E27FC236}">
                <a16:creationId xmlns:a16="http://schemas.microsoft.com/office/drawing/2014/main" id="{1873D2AC-18FB-989A-FE44-E9B5CD924E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434557A-F92F-323B-739D-76CD5718A1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104781"/>
            <a:ext cx="5715000" cy="5289842"/>
          </a:xfrm>
        </p:spPr>
        <p:txBody>
          <a:bodyPr tIns="324000"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C41B170E-89EB-306F-074C-6A9316A9970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73167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7189BC2-BE25-1E96-16E9-0C5197E772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6561" y="1430793"/>
            <a:ext cx="5710639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6583989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Image+Content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card&#10;&#10;Description automatically generated">
            <a:extLst>
              <a:ext uri="{FF2B5EF4-FFF2-40B4-BE49-F238E27FC236}">
                <a16:creationId xmlns:a16="http://schemas.microsoft.com/office/drawing/2014/main" id="{1873D2AC-18FB-989A-FE44-E9B5CD924E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4" name="Text Placeholder 22">
            <a:extLst>
              <a:ext uri="{FF2B5EF4-FFF2-40B4-BE49-F238E27FC236}">
                <a16:creationId xmlns:a16="http://schemas.microsoft.com/office/drawing/2014/main" id="{BC5A91B5-6135-C30A-5A66-DCBDB82CE9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639" y="1104780"/>
            <a:ext cx="5702441" cy="5289842"/>
          </a:xfrm>
        </p:spPr>
        <p:txBody>
          <a:bodyPr tIns="324000" rIns="324000"/>
          <a:lstStyle/>
          <a:p>
            <a:pPr lvl="2"/>
            <a:r>
              <a:rPr lang="en-CZ" dirty="0"/>
              <a:t>Cras auctor,justo non</a:t>
            </a:r>
          </a:p>
          <a:p>
            <a:pPr lvl="2"/>
            <a:r>
              <a:rPr lang="en-CZ" dirty="0"/>
              <a:t>Vestibulum volutpat, ex et placerat</a:t>
            </a:r>
          </a:p>
          <a:p>
            <a:pPr lvl="2"/>
            <a:r>
              <a:rPr lang="en-CZ" dirty="0"/>
              <a:t>Curabitur sed</a:t>
            </a:r>
          </a:p>
          <a:p>
            <a:pPr lvl="2"/>
            <a:endParaRPr lang="en-CZ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0B6EF450-3C96-CDA7-78AC-237761C2E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5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4765375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Content+Image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phone&#10;&#10;Description automatically generated">
            <a:extLst>
              <a:ext uri="{FF2B5EF4-FFF2-40B4-BE49-F238E27FC236}">
                <a16:creationId xmlns:a16="http://schemas.microsoft.com/office/drawing/2014/main" id="{C945A0E4-5813-3709-B9BD-7F2AF6C785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7" name="Text Placeholder 22">
            <a:extLst>
              <a:ext uri="{FF2B5EF4-FFF2-40B4-BE49-F238E27FC236}">
                <a16:creationId xmlns:a16="http://schemas.microsoft.com/office/drawing/2014/main" id="{0A18D2FB-0246-3EDD-7A8F-FC8F3B95C55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104781"/>
            <a:ext cx="3763072" cy="5289842"/>
          </a:xfrm>
        </p:spPr>
        <p:txBody>
          <a:bodyPr tIns="324000"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22FED59-3E64-B8CC-1AC2-28AD6DA9F25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29100" y="1109013"/>
            <a:ext cx="7659067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CA771E8-1AF1-B711-4453-25A3964510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9100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859009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Image+Content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E1D5169E-3C96-F545-A005-3A2764BBCE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84F3449B-C559-73F6-46A8-A4BAFBD73B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4" y="1109013"/>
            <a:ext cx="7674305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B7A88CD3-DA4A-12F5-4288-A34CE4FC47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4825" y="1104780"/>
            <a:ext cx="3758255" cy="5289842"/>
          </a:xfrm>
        </p:spPr>
        <p:txBody>
          <a:bodyPr tIns="324000" rIns="324000"/>
          <a:lstStyle/>
          <a:p>
            <a:pPr lvl="2"/>
            <a:r>
              <a:rPr lang="en-CZ" dirty="0"/>
              <a:t>Cras auctor,justo non</a:t>
            </a:r>
          </a:p>
          <a:p>
            <a:pPr lvl="2"/>
            <a:r>
              <a:rPr lang="en-CZ" dirty="0"/>
              <a:t>Vestibulum volutpat, ex et placerat</a:t>
            </a:r>
          </a:p>
          <a:p>
            <a:pPr lvl="2"/>
            <a:r>
              <a:rPr lang="en-CZ" dirty="0"/>
              <a:t>Curabitur sed</a:t>
            </a:r>
          </a:p>
          <a:p>
            <a:pPr lvl="2"/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3780992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Tiles–Content+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object with black dots&#10;&#10;Description automatically generated with medium confidence">
            <a:extLst>
              <a:ext uri="{FF2B5EF4-FFF2-40B4-BE49-F238E27FC236}">
                <a16:creationId xmlns:a16="http://schemas.microsoft.com/office/drawing/2014/main" id="{076A6F03-4902-A51A-B12F-AE3FB95F5C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01D10A0-923E-FAB1-E456-AB63C755247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73167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C653525F-23C7-7BB2-C46A-A5F5895A1E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73167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0CD31C98-8DC0-F43B-B755-33DF7A7BCB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109014"/>
            <a:ext cx="5706870" cy="2540566"/>
          </a:xfrm>
        </p:spPr>
        <p:txBody>
          <a:bodyPr tIns="324000"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24F1AB87-FA01-239D-A9CB-CF2AB857771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08919" y="3859941"/>
            <a:ext cx="5706870" cy="2540566"/>
          </a:xfrm>
        </p:spPr>
        <p:txBody>
          <a:bodyPr tIns="324000"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</p:spTree>
    <p:extLst>
      <p:ext uri="{BB962C8B-B14F-4D97-AF65-F5344CB8AC3E}">
        <p14:creationId xmlns:p14="http://schemas.microsoft.com/office/powerpoint/2010/main" val="11752369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Tiles–Image+Content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object with black lines&#10;&#10;Description automatically generated">
            <a:extLst>
              <a:ext uri="{FF2B5EF4-FFF2-40B4-BE49-F238E27FC236}">
                <a16:creationId xmlns:a16="http://schemas.microsoft.com/office/drawing/2014/main" id="{38706A17-39D3-579F-A268-DDF2351BC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4" name="Text Placeholder 22">
            <a:extLst>
              <a:ext uri="{FF2B5EF4-FFF2-40B4-BE49-F238E27FC236}">
                <a16:creationId xmlns:a16="http://schemas.microsoft.com/office/drawing/2014/main" id="{BDCF88B0-877A-9C10-4ADF-7406A127C7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297" y="1118813"/>
            <a:ext cx="5706870" cy="2552537"/>
          </a:xfrm>
        </p:spPr>
        <p:txBody>
          <a:bodyPr tIns="324000" rIns="324000"/>
          <a:lstStyle/>
          <a:p>
            <a:pPr lvl="4"/>
            <a:r>
              <a:rPr lang="en-GB" dirty="0">
                <a:effectLst/>
              </a:rPr>
              <a:t>Cras auctor,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</a:t>
            </a:r>
          </a:p>
          <a:p>
            <a:pPr lvl="4"/>
            <a:r>
              <a:rPr lang="en-GB" dirty="0">
                <a:effectLst/>
              </a:rPr>
              <a:t>Vestibulum </a:t>
            </a:r>
            <a:r>
              <a:rPr lang="en-GB" dirty="0" err="1">
                <a:effectLst/>
              </a:rPr>
              <a:t>volutpat</a:t>
            </a:r>
            <a:r>
              <a:rPr lang="en-GB" dirty="0">
                <a:effectLst/>
              </a:rPr>
              <a:t>, ex et </a:t>
            </a:r>
            <a:r>
              <a:rPr lang="en-GB" dirty="0" err="1">
                <a:effectLst/>
              </a:rPr>
              <a:t>placerat</a:t>
            </a:r>
            <a:endParaRPr lang="en-GB" dirty="0">
              <a:effectLst/>
            </a:endParaRPr>
          </a:p>
          <a:p>
            <a:pPr lvl="4"/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sed</a:t>
            </a:r>
            <a:endParaRPr lang="en-CZ" dirty="0"/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6168C927-A516-58D5-D9D5-C6AF72606C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76213" y="3842084"/>
            <a:ext cx="5711954" cy="2552537"/>
          </a:xfrm>
        </p:spPr>
        <p:txBody>
          <a:bodyPr tIns="324000" rIns="324000"/>
          <a:lstStyle/>
          <a:p>
            <a:pPr lvl="2"/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, lorem at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 dictum.</a:t>
            </a:r>
          </a:p>
          <a:p>
            <a:pPr lvl="2"/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magna. </a:t>
            </a:r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ex.</a:t>
            </a:r>
          </a:p>
          <a:p>
            <a:pPr lvl="2"/>
            <a:r>
              <a:rPr lang="en-GB" dirty="0">
                <a:effectLst/>
              </a:rPr>
              <a:t>Aenean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aliquet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neque</a:t>
            </a:r>
            <a:r>
              <a:rPr lang="en-GB" dirty="0">
                <a:effectLst/>
              </a:rPr>
              <a:t>.</a:t>
            </a:r>
          </a:p>
          <a:p>
            <a:pPr lvl="2"/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.</a:t>
            </a:r>
            <a:endParaRPr lang="en-CZ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E0BA5753-0918-88BD-DB5F-F9594A9668C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5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6719831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Tiles–Content+Image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screenshot of a phone&#10;&#10;Description automatically generated">
            <a:extLst>
              <a:ext uri="{FF2B5EF4-FFF2-40B4-BE49-F238E27FC236}">
                <a16:creationId xmlns:a16="http://schemas.microsoft.com/office/drawing/2014/main" id="{E3FA366D-A4A9-5186-13E0-F1FD15E56C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3EE98F0A-7C09-6202-5C95-4ECACF5E8D0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18764" y="1102642"/>
            <a:ext cx="3769401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24696F60-FDED-5098-D9C9-25A4ED2027F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8764" y="1444238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243F70FE-BD6A-5CE8-576B-C81AABE1ED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5717" y="1114359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viverra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felis</a:t>
            </a:r>
            <a:r>
              <a:rPr lang="en-GB" dirty="0">
                <a:effectLst/>
              </a:rPr>
              <a:t>. Integer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 dictum </a:t>
            </a:r>
            <a:r>
              <a:rPr lang="en-GB" dirty="0" err="1">
                <a:effectLst/>
              </a:rPr>
              <a:t>arcu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euismod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nisl</a:t>
            </a:r>
            <a:r>
              <a:rPr lang="en-GB" dirty="0">
                <a:effectLst/>
              </a:rPr>
              <a:t>. Donec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ultricies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CA7593F-E038-20B6-2AB9-B58ED815867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5717" y="2933142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eget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dictum. </a:t>
            </a:r>
            <a:r>
              <a:rPr lang="en-GB" dirty="0" err="1">
                <a:effectLst/>
              </a:rPr>
              <a:t>Interdum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fames ac ante ipsum </a:t>
            </a:r>
            <a:r>
              <a:rPr lang="en-GB" dirty="0" err="1">
                <a:effectLst/>
              </a:rPr>
              <a:t>primis</a:t>
            </a:r>
            <a:r>
              <a:rPr lang="en-GB" dirty="0">
                <a:effectLst/>
              </a:rPr>
              <a:t> in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. Vestibulum in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non.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36295C81-B298-0EB4-0D95-62112565FC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5717" y="4762793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Suspendisse</a:t>
            </a:r>
            <a:r>
              <a:rPr lang="en-GB" dirty="0">
                <a:effectLst/>
              </a:rPr>
              <a:t> non </a:t>
            </a:r>
            <a:r>
              <a:rPr lang="en-GB" dirty="0" err="1">
                <a:effectLst/>
              </a:rPr>
              <a:t>urna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ac </a:t>
            </a:r>
            <a:r>
              <a:rPr lang="en-GB" dirty="0" err="1">
                <a:effectLst/>
              </a:rPr>
              <a:t>porttitor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Nam tempus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Duis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tempus,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nulla</a:t>
            </a:r>
            <a:r>
              <a:rPr lang="en-GB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44805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Tiles–Image+Content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phone&#10;&#10;Description automatically generated">
            <a:extLst>
              <a:ext uri="{FF2B5EF4-FFF2-40B4-BE49-F238E27FC236}">
                <a16:creationId xmlns:a16="http://schemas.microsoft.com/office/drawing/2014/main" id="{0FAA8E98-5D30-9C98-499F-AC0E0F2F47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531D3EA-2F99-9F71-020A-FA7859E40F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26058" y="1114359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viverra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felis</a:t>
            </a:r>
            <a:r>
              <a:rPr lang="en-GB" dirty="0">
                <a:effectLst/>
              </a:rPr>
              <a:t>. Integer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 dictum </a:t>
            </a:r>
            <a:r>
              <a:rPr lang="en-GB" dirty="0" err="1">
                <a:effectLst/>
              </a:rPr>
              <a:t>arcu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euismod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nisl</a:t>
            </a:r>
            <a:r>
              <a:rPr lang="en-GB" dirty="0">
                <a:effectLst/>
              </a:rPr>
              <a:t>. Donec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ultricies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58032A59-EB50-70C6-5F6F-195B904B8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6" y="1102642"/>
            <a:ext cx="3769400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D6DBA9D-8DD9-F1FA-1C30-06FA1E493A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77495D1-2542-4512-45B1-17E019F7CC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6058" y="2933142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eget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dictum. </a:t>
            </a:r>
            <a:r>
              <a:rPr lang="en-GB" dirty="0" err="1">
                <a:effectLst/>
              </a:rPr>
              <a:t>Interdum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fames ac ante ipsum </a:t>
            </a:r>
            <a:r>
              <a:rPr lang="en-GB" dirty="0" err="1">
                <a:effectLst/>
              </a:rPr>
              <a:t>primis</a:t>
            </a:r>
            <a:r>
              <a:rPr lang="en-GB" dirty="0">
                <a:effectLst/>
              </a:rPr>
              <a:t> in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. Vestibulum in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non.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3E9D361-C73D-5380-B40C-F5636C0FFA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6058" y="4762793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Suspendisse</a:t>
            </a:r>
            <a:r>
              <a:rPr lang="en-GB" dirty="0">
                <a:effectLst/>
              </a:rPr>
              <a:t> non </a:t>
            </a:r>
            <a:r>
              <a:rPr lang="en-GB" dirty="0" err="1">
                <a:effectLst/>
              </a:rPr>
              <a:t>urna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ac </a:t>
            </a:r>
            <a:r>
              <a:rPr lang="en-GB" dirty="0" err="1">
                <a:effectLst/>
              </a:rPr>
              <a:t>porttitor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Nam tempus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Duis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tempus,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nulla</a:t>
            </a:r>
            <a:r>
              <a:rPr lang="en-GB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84434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Tiles–Content+Image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phone&#10;&#10;Description automatically generated">
            <a:extLst>
              <a:ext uri="{FF2B5EF4-FFF2-40B4-BE49-F238E27FC236}">
                <a16:creationId xmlns:a16="http://schemas.microsoft.com/office/drawing/2014/main" id="{CF265211-60D3-3CC3-3366-CCC9925ABF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531D3EA-2F99-9F71-020A-FA7859E40F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3835" y="1114360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viverra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felis</a:t>
            </a:r>
            <a:r>
              <a:rPr lang="en-GB" dirty="0">
                <a:effectLst/>
              </a:rPr>
              <a:t>. Integer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 dictum </a:t>
            </a:r>
            <a:r>
              <a:rPr lang="en-GB" dirty="0" err="1">
                <a:effectLst/>
              </a:rPr>
              <a:t>arcu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euismod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nisl</a:t>
            </a:r>
            <a:r>
              <a:rPr lang="en-GB" dirty="0">
                <a:effectLst/>
              </a:rPr>
              <a:t>. Donec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ultricies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77495D1-2542-4512-45B1-17E019F7CC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3835" y="24796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eget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dictum. </a:t>
            </a:r>
            <a:r>
              <a:rPr lang="en-GB" dirty="0" err="1">
                <a:effectLst/>
              </a:rPr>
              <a:t>Interdum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fames ac ante ipsum </a:t>
            </a:r>
            <a:r>
              <a:rPr lang="en-GB" dirty="0" err="1">
                <a:effectLst/>
              </a:rPr>
              <a:t>primis</a:t>
            </a:r>
            <a:r>
              <a:rPr lang="en-GB" dirty="0">
                <a:effectLst/>
              </a:rPr>
              <a:t> in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. Vestibulum in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non.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3E9D361-C73D-5380-B40C-F5636C0FFA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03835" y="38409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Suspendisse</a:t>
            </a:r>
            <a:r>
              <a:rPr lang="en-GB" dirty="0">
                <a:effectLst/>
              </a:rPr>
              <a:t> non </a:t>
            </a:r>
            <a:r>
              <a:rPr lang="en-GB" dirty="0" err="1">
                <a:effectLst/>
              </a:rPr>
              <a:t>urna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ac </a:t>
            </a:r>
            <a:r>
              <a:rPr lang="en-GB" dirty="0" err="1">
                <a:effectLst/>
              </a:rPr>
              <a:t>porttitor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Nam tempus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Duis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tempus,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nulla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856E1D2-760B-9E51-2AB3-DBA138AB39E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3835" y="52022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libero at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molestie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eleifend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varius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natoque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penatibus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magnis</a:t>
            </a:r>
            <a:r>
              <a:rPr lang="en-GB" dirty="0">
                <a:effectLst/>
              </a:rPr>
              <a:t> dis parturient </a:t>
            </a:r>
            <a:r>
              <a:rPr lang="en-GB" dirty="0" err="1">
                <a:effectLst/>
              </a:rPr>
              <a:t>montes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nascetur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ridiculus</a:t>
            </a:r>
            <a:r>
              <a:rPr lang="en-GB" dirty="0">
                <a:effectLst/>
              </a:rPr>
              <a:t> mus.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a nisi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, auctor </a:t>
            </a:r>
            <a:r>
              <a:rPr lang="en-GB" dirty="0" err="1">
                <a:effectLst/>
              </a:rPr>
              <a:t>lectus</a:t>
            </a:r>
            <a:r>
              <a:rPr lang="en-GB" dirty="0">
                <a:effectLst/>
              </a:rPr>
              <a:t> sit.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5CABB5-85CA-C66D-C0DD-3F700D40071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18764" y="1102642"/>
            <a:ext cx="3769401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3DCAE1E-438A-98F1-40FA-EE7CE5FBD5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18764" y="1444238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3872885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Tiles–Image+Content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B605E262-C524-50F2-FEED-2ADB5BEB30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531D3EA-2F99-9F71-020A-FA7859E40F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26058" y="1114360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viverra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felis</a:t>
            </a:r>
            <a:r>
              <a:rPr lang="en-GB" dirty="0">
                <a:effectLst/>
              </a:rPr>
              <a:t>. Integer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 dictum </a:t>
            </a:r>
            <a:r>
              <a:rPr lang="en-GB" dirty="0" err="1">
                <a:effectLst/>
              </a:rPr>
              <a:t>arcu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euismod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nisl</a:t>
            </a:r>
            <a:r>
              <a:rPr lang="en-GB" dirty="0">
                <a:effectLst/>
              </a:rPr>
              <a:t>. Donec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ultricies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58032A59-EB50-70C6-5F6F-195B904B8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6" y="1102642"/>
            <a:ext cx="3769400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D6DBA9D-8DD9-F1FA-1C30-06FA1E493A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77495D1-2542-4512-45B1-17E019F7CC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6058" y="24796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eget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dictum. </a:t>
            </a:r>
            <a:r>
              <a:rPr lang="en-GB" dirty="0" err="1">
                <a:effectLst/>
              </a:rPr>
              <a:t>Interdum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fames ac ante ipsum </a:t>
            </a:r>
            <a:r>
              <a:rPr lang="en-GB" dirty="0" err="1">
                <a:effectLst/>
              </a:rPr>
              <a:t>primis</a:t>
            </a:r>
            <a:r>
              <a:rPr lang="en-GB" dirty="0">
                <a:effectLst/>
              </a:rPr>
              <a:t> in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. Vestibulum in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non.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3E9D361-C73D-5380-B40C-F5636C0FFA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6058" y="38409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Suspendisse</a:t>
            </a:r>
            <a:r>
              <a:rPr lang="en-GB" dirty="0">
                <a:effectLst/>
              </a:rPr>
              <a:t> non </a:t>
            </a:r>
            <a:r>
              <a:rPr lang="en-GB" dirty="0" err="1">
                <a:effectLst/>
              </a:rPr>
              <a:t>urna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ac </a:t>
            </a:r>
            <a:r>
              <a:rPr lang="en-GB" dirty="0" err="1">
                <a:effectLst/>
              </a:rPr>
              <a:t>porttitor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Nam tempus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Duis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tempus,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nulla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856E1D2-760B-9E51-2AB3-DBA138AB39E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26058" y="52022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libero at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molestie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eleifend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varius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natoque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penatibus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magnis</a:t>
            </a:r>
            <a:r>
              <a:rPr lang="en-GB" dirty="0">
                <a:effectLst/>
              </a:rPr>
              <a:t> dis parturient </a:t>
            </a:r>
            <a:r>
              <a:rPr lang="en-GB" dirty="0" err="1">
                <a:effectLst/>
              </a:rPr>
              <a:t>montes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nascetur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ridiculus</a:t>
            </a:r>
            <a:r>
              <a:rPr lang="en-GB" dirty="0">
                <a:effectLst/>
              </a:rPr>
              <a:t> mus.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a nisi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, auctor </a:t>
            </a:r>
            <a:r>
              <a:rPr lang="en-GB" dirty="0" err="1">
                <a:effectLst/>
              </a:rPr>
              <a:t>lectus</a:t>
            </a:r>
            <a:r>
              <a:rPr lang="en-GB" dirty="0">
                <a:effectLst/>
              </a:rPr>
              <a:t> sit.</a:t>
            </a:r>
          </a:p>
        </p:txBody>
      </p:sp>
    </p:spTree>
    <p:extLst>
      <p:ext uri="{BB962C8B-B14F-4D97-AF65-F5344CB8AC3E}">
        <p14:creationId xmlns:p14="http://schemas.microsoft.com/office/powerpoint/2010/main" val="26414143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city logo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red square with a white background&#10;&#10;Description automatically generated">
            <a:extLst>
              <a:ext uri="{FF2B5EF4-FFF2-40B4-BE49-F238E27FC236}">
                <a16:creationId xmlns:a16="http://schemas.microsoft.com/office/drawing/2014/main" id="{4F5A1724-BE65-B397-9106-BD6BB8303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5240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city logo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red square with white text&#10;&#10;Description automatically generated">
            <a:extLst>
              <a:ext uri="{FF2B5EF4-FFF2-40B4-BE49-F238E27FC236}">
                <a16:creationId xmlns:a16="http://schemas.microsoft.com/office/drawing/2014/main" id="{E771A05C-2DC1-C320-255C-855C07680F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9879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B logo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background with white text&#10;&#10;AI-generated content may be incorrect.">
            <a:extLst>
              <a:ext uri="{FF2B5EF4-FFF2-40B4-BE49-F238E27FC236}">
                <a16:creationId xmlns:a16="http://schemas.microsoft.com/office/drawing/2014/main" id="{321B8429-C301-6AEA-B3DE-04B381BF3A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600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4C055E-5293-3769-025F-0FEC044E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E01CB-62BF-0AF7-3848-F0459ADE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51484"/>
            <a:ext cx="10515600" cy="4351338"/>
          </a:xfrm>
          <a:prstGeom prst="rect">
            <a:avLst/>
          </a:prstGeom>
        </p:spPr>
        <p:txBody>
          <a:bodyPr vert="horz" lIns="324000" tIns="45720" rIns="32400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36F3A-8C20-9D36-7723-BA810354E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6947" y="64426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rgbClr val="909090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D03E34F-0A3A-005A-A05A-9369A53D3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426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0" i="0">
                <a:solidFill>
                  <a:srgbClr val="ADADAD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GB" dirty="0"/>
              <a:t>PPT Template 2.0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34861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49" r:id="rId8"/>
    <p:sldLayoutId id="2147483667" r:id="rId9"/>
    <p:sldLayoutId id="2147483668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90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400" indent="-252000" algn="l" defTabSz="914400" rtl="0" eaLnBrk="1" latinLnBrk="0" hangingPunct="1">
        <a:lnSpc>
          <a:spcPct val="100000"/>
        </a:lnSpc>
        <a:spcBef>
          <a:spcPts val="900"/>
        </a:spcBef>
        <a:buSzPct val="100000"/>
        <a:buFontTx/>
        <a:buBlip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</a:buBlip>
        <a:defRPr sz="1800" b="1" i="0" kern="1200" spc="-40" baseline="0">
          <a:solidFill>
            <a:schemeClr val="tx1"/>
          </a:solidFill>
          <a:latin typeface="Source Sans Pro SemiBold" panose="020B0503030403020204" pitchFamily="34" charset="0"/>
          <a:ea typeface="Source Sans Pro SemiBold" panose="020B0503030403020204" pitchFamily="34" charset="0"/>
          <a:cs typeface="+mn-cs"/>
        </a:defRPr>
      </a:lvl1pPr>
      <a:lvl2pPr marL="266400" indent="-252000" algn="l" defTabSz="914400" rtl="0" eaLnBrk="1" latinLnBrk="0" hangingPunct="1">
        <a:lnSpc>
          <a:spcPct val="100000"/>
        </a:lnSpc>
        <a:spcBef>
          <a:spcPts val="900"/>
        </a:spcBef>
        <a:buSzPct val="100000"/>
        <a:buFontTx/>
        <a:buBlip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</a:buBlip>
        <a:defRPr sz="1800" b="1" i="0" kern="1200" spc="-40" baseline="0">
          <a:solidFill>
            <a:schemeClr val="tx1"/>
          </a:solidFill>
          <a:latin typeface="Source Sans Pro SemiBold" panose="020B0503030403020204" pitchFamily="34" charset="0"/>
          <a:ea typeface="Source Sans Pro SemiBold" panose="020B0503030403020204" pitchFamily="34" charset="0"/>
          <a:cs typeface="+mn-cs"/>
        </a:defRPr>
      </a:lvl2pPr>
      <a:lvl3pPr marL="266400" indent="-252000" algn="l" defTabSz="914400" rtl="0" eaLnBrk="1" latinLnBrk="0" hangingPunct="1">
        <a:lnSpc>
          <a:spcPct val="100000"/>
        </a:lnSpc>
        <a:spcBef>
          <a:spcPts val="900"/>
        </a:spcBef>
        <a:buSzPct val="100000"/>
        <a:buFontTx/>
        <a:buBlip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</a:buBlip>
        <a:defRPr sz="1800" b="1" i="0" kern="1200" spc="-40" baseline="0">
          <a:solidFill>
            <a:schemeClr val="tx1"/>
          </a:solidFill>
          <a:latin typeface="Source Sans Pro SemiBold" panose="020B0503030403020204" pitchFamily="34" charset="0"/>
          <a:ea typeface="Source Sans Pro SemiBold" panose="020B0503030403020204" pitchFamily="34" charset="0"/>
          <a:cs typeface="+mn-cs"/>
        </a:defRPr>
      </a:lvl3pPr>
      <a:lvl4pPr marL="266400" indent="-252000" algn="l" defTabSz="914400" rtl="0" eaLnBrk="1" latinLnBrk="0" hangingPunct="1">
        <a:lnSpc>
          <a:spcPct val="100000"/>
        </a:lnSpc>
        <a:spcBef>
          <a:spcPts val="900"/>
        </a:spcBef>
        <a:buSzPct val="100000"/>
        <a:buFontTx/>
        <a:buBlip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</a:buBlip>
        <a:defRPr sz="1800" b="1" i="0" kern="1200" spc="-40" baseline="0">
          <a:solidFill>
            <a:schemeClr val="tx1"/>
          </a:solidFill>
          <a:latin typeface="Source Sans Pro SemiBold" panose="020B0503030403020204" pitchFamily="34" charset="0"/>
          <a:ea typeface="Source Sans Pro SemiBold" panose="020B0503030403020204" pitchFamily="34" charset="0"/>
          <a:cs typeface="+mn-cs"/>
        </a:defRPr>
      </a:lvl4pPr>
      <a:lvl5pPr marL="266400" indent="-252000" algn="l" defTabSz="914400" rtl="0" eaLnBrk="1" latinLnBrk="0" hangingPunct="1">
        <a:lnSpc>
          <a:spcPct val="100000"/>
        </a:lnSpc>
        <a:spcBef>
          <a:spcPts val="900"/>
        </a:spcBef>
        <a:buSzPct val="100000"/>
        <a:buFontTx/>
        <a:buBlip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</a:buBlip>
        <a:defRPr sz="1800" b="1" i="0" kern="1200" spc="-40" baseline="0">
          <a:solidFill>
            <a:schemeClr val="tx1"/>
          </a:solidFill>
          <a:latin typeface="Source Sans Pro SemiBold" panose="020B0503030403020204" pitchFamily="34" charset="0"/>
          <a:ea typeface="Source Sans Pro SemiBold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BA27AC-3D01-C159-1268-E1FAFF5DA6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25A76-9FA8-2823-6F21-80D5E256A8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7990E-8CF5-967D-2A57-6AE9B82DBA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019605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4F59E0-A54D-8880-FE9B-BCC1045555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2AF8B-BD9F-6692-BB30-05744C0EE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8ACD3AB-3FEE-D25B-37C9-932883127E0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4212137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B1367B-F17A-C976-555E-2BDE1818C5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EC2B2-195E-1BA9-3992-A292FA4984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291320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2AE5D8-3725-9A2F-7A4B-2B931D1EBC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32EC6-CA30-69C9-859E-50D9E229D2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49319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2C5324-091D-7F17-98EC-E12DF097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5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596A2-8431-695E-0D18-4A2F7C22C7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BC374-3B34-E415-DF98-906CE3056B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FF02E-FA20-03A1-8065-FA59521189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114116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781BD9-0B81-42F3-D59F-6E6A15D7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6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70404-B784-0B43-D696-42B4C3A04A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2068A-8A7F-5C84-B110-EA405BF76C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C3E3F-BD05-3F1A-2481-7098C7F081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317B37-0FB1-F6F3-9D09-8569B4B45D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F5E6B7F-E67F-ECDF-9B79-3BA89DCFD7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15C748-10E7-3B46-E75A-44BB240991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EDD25E-E5AA-10B9-6E53-211E5E4CD3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388951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138133-860B-97FC-B1BB-11549A6D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7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73078-FDCE-B669-5C77-18879F222E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559B8-ACF3-70EB-1275-FB8F215B47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E222E-285D-E79A-138C-DD92E7EF11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23D365-E001-B133-87EE-AF672D3586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B74C09-0606-78A4-3CEF-E1D58703B1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5512F3-9524-85B9-C756-A62557C966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CD617E-B235-B787-BAF7-45C6EDD246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BF5F13-CD36-8D97-E8A9-D30E685825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0CC4D10-05F7-B2BA-0907-5E8A1CC7D7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775810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243604-FDDA-EDB5-A81A-D78FF03EA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8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CC1F9-10BA-1C1F-F3FE-E6F963C9D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02889-68F1-A236-28B9-A7E3419F89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D9F1-6DC7-C002-5752-EBA9755FDC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01B112-E210-EAD1-E9A4-020948471E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31C1EE-747B-49D7-B34F-989C335BDF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1A9F46A-B16D-3DEC-A329-070AB0A078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3CD643-678C-C5E3-E45D-D3C1119BA7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3DBF58-94C9-CD92-1BC5-FA38496D07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3B12BBA-623E-A1FD-CBB3-854E93BC3CC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455ED64-418C-A2CC-D958-A3F06618EE0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F9A218A-7B0C-7B36-CB7D-BA374ED712A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933930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A10156-37A6-0EBA-6430-4DDDA4B1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9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383B3-A3ED-A8D6-C685-72AE900844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B19E0F-F4A0-BC17-AE6A-FEB780E2D4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3883B-09D3-7EC2-4B46-8D2C31E8D9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4671AE0-F218-0EC1-D3DA-84ACA03AAD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96B597-AD5C-0DD8-9631-04CD6833A9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2BBF1B-A418-6B75-4F36-B279416F48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85A1F0-EB5F-E16B-45BA-F50B9BC3A06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0F68289-7F1F-A8CE-5624-4A4E6B049F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726349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B93948-DEE2-FEDE-F333-9873F3E8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10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3C40F-82B3-24D1-BDC6-3772C5F053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86164-E7E6-8C2E-F641-C7660CF50A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05795-2B91-4880-FF77-DFBBFB51B85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96DEA0-049C-6C30-EAA1-A6A34E3E94E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5FCA6E-E851-6AC5-01E7-7E1EF7AF8C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637A34-BACA-C100-04A5-E883549ABF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EE2F0E-7E19-A9FE-7B17-290FD12742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D40919-1157-3E1B-63E3-2972711756B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51226A-E6BA-D932-73A3-909F0414A69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953291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D4CEDF-7D3F-892B-8C09-C931CBCC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11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B88B4-17A5-88F7-CA1E-BE2E921090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06F95-9D83-3189-61EA-3F596D608E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C484C-2B8F-D0B7-51BB-C362A10ECDA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6251E05-9D2B-5B4E-49D2-A267CED6F2D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016CC4-0578-B6DB-4F2C-03C0A1F6CA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245262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E9BB2D-54E1-1DCF-6A9B-ECA8E429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12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C5339-D427-D3EA-4D13-67BAB78966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06090-505A-8236-C431-86852564B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DA76B-2338-E1E4-995A-681B66464A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71F1C3F-8E00-926B-0D20-61065161115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14B94F-3262-7A95-6C16-D1BC7D5846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E6DCDA-B716-4947-CCFF-F422F6806FC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2BF366-717A-F5F6-30E6-0D48976596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262528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E4AABE-4496-6C9E-80A0-8A3C29BA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13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450FB-8C5E-6D63-3D01-8A89CB8E7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7CE9E-7A9C-F77C-2680-59F38DFE5E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BA671-BDD1-069B-4091-E5667A0707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22A758D-D48D-93D7-0DEC-98B2C9CB840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A2A77D-B868-0903-4E52-2A32047A030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5BC3D26-D7B3-5DAE-9621-0961F5C1E57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D99D32-2346-F965-4C8C-B77560FC86F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AAF3675-F0FD-C774-B255-8C544689D2F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49929DF-7FCB-34FC-65E0-7122BF732A2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752685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4A581-4894-D7EB-4F32-6087802D7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14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BDDC4-ABD9-8015-CC57-25AF107F8B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BFB02-BE60-C3C0-9C61-5B1EBF0987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15008-6261-E3E0-1D60-982A472629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BF223F0-5715-F7A8-97DA-EFEF4DA0EFF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AD3B32-8F27-DD52-ECE9-14060910C1A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A54C298-566C-C012-96D4-28530AC1EF5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0A01820-B381-91B0-F3CA-D9A6FFA6EEF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AE7911F-01BF-5C53-79B3-5E1A389B49C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0827635-6382-629A-F445-F93DBA3773C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65E042F-1C8A-C348-D58D-A47AD85C54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88FC73D-62C0-F10F-9C9F-29AD0DCC3BF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641939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9FAC70-305D-7000-DF0D-FDD11A752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15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7F0F4-3451-B089-560E-1E041AD37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F4A0F-9636-86A4-9CFA-0E28158E47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F0BC8-B3B1-D847-8A13-958863B022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C22F01-BA92-6E34-1D2A-937DE35B16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79DC522-9F92-F9AB-50FE-EAE81BA201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314A420-5B40-73B5-2F6D-57C79F7213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567938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05B8EA-2916-B988-82EB-E705A598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16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C209E-363D-173E-7DBD-48E2AED8FA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925B-454B-154E-0485-FF5B93CBFD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31532-F77A-B423-53E2-FD2CBF9752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5EE9AE-53BA-798C-9001-D2D2ECCDB0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6D0D07B-E358-EDC1-D75C-3893F004C14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743531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D32DD3-E645-ECD5-9ABC-A4F21B07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17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0C711-E0C1-49CA-3B96-3EBB8BF8C2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0660-81CA-20F6-4191-B7C264DE29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7A479-5314-1FF4-4C97-D44A0F7A34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E1BBAC-CB5F-4CDB-4EEC-A026524677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AD6E00-E496-3B9D-3E1C-F9BA56330DD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B714A4-82C8-BFA1-BCBD-72E6CF4BDD7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74190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9327D4-5613-4BF8-3009-A61511BC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18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3B449-C115-3960-00AA-F76550A9BD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F493C-07B1-FB04-E1C3-9F18D52A79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B8438-C75D-FBA0-9FEE-FB45140502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0AC2DF2-DDB3-5A2E-4890-B5C04D430B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25AFCD-B53B-6E88-C814-62F5831FB0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293812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241C94-7D8F-7C2F-439A-67F9986C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19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B446E-7853-B0FC-8AA3-A071542D21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FFBE6-6DB5-C9E8-C33F-F5011D7D04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87AEB-C079-7167-0F2C-131D1602F0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C1FB568-7648-BFB5-782F-F713AD4A137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C5AA68-C1BB-C962-A93D-180136424A9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04FC669-E625-69C1-7210-14683BCCCA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34FFC1D-CE79-ECBF-83D3-D23047C5F3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254263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692F12-09C3-C7CA-7B13-ABE6AACDE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20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BD77E-B35A-1FEE-9C21-66950FC094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D53C1-6CE0-D297-FAC4-A73219E296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99E0A-3D0F-FD9F-6F4D-090EDB2C81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EF9616-9881-8565-CF33-0021CB7C7BC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DC69C4-E730-6067-8040-FBBF33C7911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F8BD944-66CF-9D12-39D9-773981EF2C4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912108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0FA214-25A2-A2D1-0796-BDF566A8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21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754C1-EBC3-9783-1F6E-0C69B744C5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0B45C-0417-9E17-086A-8A4CF7B98B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6B54B-E87F-649F-B37D-AF0F0B1A33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3E9D70D-F613-CDA4-95D9-2FD9DB5E00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1526C2-724E-3CAA-431B-EF32845D6F2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0D5260-991D-7205-1C66-49DF928141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5004036-DD08-32E5-E684-6EAC04663B2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A30025C-BBA5-FCDD-8796-55DBBC7F4CA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720631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D259E0-2DB7-5092-5994-AD792C0B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22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D71A8-AE77-D0F6-A0BD-A7B81D006C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2AF77-3E41-3E27-1166-BA38FB8F94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92C0F-2E1B-0F70-0E95-3B268A9A24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A5AD3F-4D1A-0AD3-967E-DCF157796E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AF36A-3139-E5CA-35AD-12D2A28ECDB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EBBDEB-BD64-5A5C-D750-091468B670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5F15609-D389-D5E3-B002-B8DBA12DD8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AC4218B-CB0D-6102-93A8-4B1C18DC649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332348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1E8DD-5940-10AB-2E8D-301A345B6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23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A056C-64AE-93CC-F378-ADE9640A8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DC2D1-27CB-6B8D-212B-DAE568B7AA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BD115-63E6-D8BF-770B-6A4A2A5EC8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537545-9FB2-FBFB-4456-ED0E14D87A9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3F7C61-1763-ADC9-FC32-CBD5A56C025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BF1F3F-20AA-2609-794A-6844A03080D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0DB7A18-BE79-D195-42CF-9FE5CB5C21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0544DE5-5965-B687-8F07-8884A1753BF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6385E48-A5A6-3121-3B75-7F6115FB08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294718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548048-525E-30FE-4E27-916EE953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24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45B66-D516-B4DF-4AB7-9C31A18AE1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A00B5-A2B4-EF9C-9A92-7EA50760F6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73028-DF83-3DAE-C0C7-336967670C4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3F0136-4BC5-BAF0-7683-00710C34FFF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65012E3-D732-29D3-85F7-B1B57B38AC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07AFA4-D075-1B79-2152-39C2DD2549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9A4FB9-AD0A-66C7-48A7-20DE0F7C8BF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FB9C1A-76DB-D522-385B-FD6A5991A46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4AF115-3F8A-6A94-C811-078727FF5E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076269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32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323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139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en-GB" dirty="0"/>
              <a:t>Ingest Tool for DataMesh</a:t>
            </a:r>
          </a:p>
        </p:txBody>
      </p:sp>
      <p:sp>
        <p:nvSpPr>
          <p:cNvPr id="3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Recommended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00000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Recap of Previous Proposals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Starting point before the current evaluation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Body Left Placeholder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lvl="4"/>
            <a:r>
              <a:rPr lang="en-GB" dirty="0"/>
              <a:t>The previous evaluation round for the DAKVI squad covered AirPy, NiFi and Inf</a:t>
            </a:r>
            <a:r>
              <a:rPr lang="cs-CZ" dirty="0" err="1"/>
              <a:t>ormatica</a:t>
            </a:r>
            <a:r>
              <a:rPr lang="en-GB" dirty="0"/>
              <a:t>; AirPy was recommended f</a:t>
            </a:r>
            <a:r>
              <a:rPr lang="cs-CZ" dirty="0" err="1"/>
              <a:t>rom</a:t>
            </a:r>
            <a:r>
              <a:rPr lang="en-GB" dirty="0"/>
              <a:t> the squad</a:t>
            </a:r>
            <a:r>
              <a:rPr lang="cs-CZ" dirty="0"/>
              <a:t> DAKVI</a:t>
            </a:r>
            <a:endParaRPr lang="en-GB" dirty="0"/>
          </a:p>
          <a:p>
            <a:pPr lvl="4"/>
            <a:r>
              <a:rPr lang="en-GB" dirty="0"/>
              <a:t>The B2 — Template Library concept was subsequently approved at ODP SRF</a:t>
            </a:r>
          </a:p>
          <a:p>
            <a:pPr lvl="4"/>
            <a:r>
              <a:rPr lang="en-GB" dirty="0"/>
              <a:t>Based on a proposal from the vendor (BigHub), the Meltano alternative was added to the evaluation, followed by MiNiFi</a:t>
            </a:r>
          </a:p>
          <a:p>
            <a:pPr lvl="4"/>
            <a:r>
              <a:rPr lang="en-GB" dirty="0"/>
              <a:t>Both alternatives were verified through a smaller-scale Proof of Concept</a:t>
            </a:r>
          </a:p>
        </p:txBody>
      </p:sp>
      <p:pic>
        <p:nvPicPr>
          <p:cNvPr id="7" name="Obrázek 6" descr="GitHub - meltano/meltano: Meltano: the declarative code-first data  integration engine that powers your wildest data and ML-powered product  ideas. Say goodbye to writing, maintaining, and scaling your own API  integrations. · GitHub">
            <a:extLst>
              <a:ext uri="{FF2B5EF4-FFF2-40B4-BE49-F238E27FC236}">
                <a16:creationId xmlns:a16="http://schemas.microsoft.com/office/drawing/2014/main" id="{B5B38829-DF79-F954-5CD6-0CA57ECFF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433" y="2751293"/>
            <a:ext cx="1813534" cy="1813534"/>
          </a:xfrm>
          <a:prstGeom prst="rect">
            <a:avLst/>
          </a:prstGeom>
        </p:spPr>
      </p:pic>
      <p:pic>
        <p:nvPicPr>
          <p:cNvPr id="8" name="Obrázek 7" descr="Apache Airflow: A Complete Guide. Apache Airflow is a powerful… | by  RADOUANE ELMAHFOUD | Medium">
            <a:extLst>
              <a:ext uri="{FF2B5EF4-FFF2-40B4-BE49-F238E27FC236}">
                <a16:creationId xmlns:a16="http://schemas.microsoft.com/office/drawing/2014/main" id="{038D62E5-49C6-244D-5E5E-5B4AFF40B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42" y="1363382"/>
            <a:ext cx="2051706" cy="1068353"/>
          </a:xfrm>
          <a:prstGeom prst="rect">
            <a:avLst/>
          </a:prstGeom>
        </p:spPr>
      </p:pic>
      <p:pic>
        <p:nvPicPr>
          <p:cNvPr id="9" name="Picture Placeholder" descr="Apache MiNiFi logo">
            <a:extLst>
              <a:ext uri="{FF2B5EF4-FFF2-40B4-BE49-F238E27FC236}">
                <a16:creationId xmlns:a16="http://schemas.microsoft.com/office/drawing/2014/main" id="{73C697F8-3A65-0FC3-9086-C7D748392D8A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4"/>
          <a:stretch>
            <a:fillRect/>
          </a:stretch>
        </p:blipFill>
        <p:spPr>
          <a:xfrm>
            <a:off x="8987148" y="4541961"/>
            <a:ext cx="2722252" cy="149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0001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30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Architecture Independent of the Tool Choice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Versioned Template Library principle (variant B2)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Body Left Placeholder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lvl="4"/>
            <a:r>
              <a:rPr lang="en-GB" dirty="0"/>
              <a:t>The chosen architectural model remains valid regardless of the outcome of the tool evaluation</a:t>
            </a:r>
          </a:p>
          <a:p>
            <a:pPr lvl="4"/>
            <a:r>
              <a:rPr lang="en-GB" dirty="0"/>
              <a:t>The business squad deploys a versioned copy of the template and its own configuration in its own Git repository</a:t>
            </a:r>
          </a:p>
          <a:p>
            <a:pPr lvl="4"/>
            <a:r>
              <a:rPr lang="en-GB" dirty="0"/>
              <a:t>The business squad is responsible for deployment, operation, and upgrade decisions</a:t>
            </a:r>
          </a:p>
          <a:p>
            <a:pPr lvl="4"/>
            <a:r>
              <a:rPr lang="en-GB" dirty="0"/>
              <a:t>The configuration components remain unchanged: Object Schema, Export Configuration, Run Conditions</a:t>
            </a:r>
          </a:p>
          <a:p>
            <a:pPr lvl="4"/>
            <a:r>
              <a:rPr lang="en-GB" dirty="0"/>
              <a:t>The choice of the specific tool (AirPy, MiNiFi) affects only the implementation, not how business squads use this architecture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F1FCFC94-EEF4-1BE9-9253-3EDB49629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784" y="1541644"/>
            <a:ext cx="5280616" cy="4365110"/>
          </a:xfrm>
          <a:prstGeom prst="rect">
            <a:avLst/>
          </a:prstGeom>
        </p:spPr>
      </p:pic>
      <p:sp>
        <p:nvSpPr>
          <p:cNvPr id="10" name="TextovéPole 9">
            <a:extLst>
              <a:ext uri="{FF2B5EF4-FFF2-40B4-BE49-F238E27FC236}">
                <a16:creationId xmlns:a16="http://schemas.microsoft.com/office/drawing/2014/main" id="{32C4E4CD-A372-04D5-200F-7089994775B0}"/>
              </a:ext>
            </a:extLst>
          </p:cNvPr>
          <p:cNvSpPr txBox="1"/>
          <p:nvPr/>
        </p:nvSpPr>
        <p:spPr>
          <a:xfrm>
            <a:off x="6336028" y="129712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2250"/>
              </a:spcBef>
              <a:buNone/>
            </a:pPr>
            <a:r>
              <a:rPr lang="cs-CZ" sz="1200" b="1" i="0" dirty="0">
                <a:solidFill>
                  <a:srgbClr val="172B4D"/>
                </a:solidFill>
                <a:effectLst/>
                <a:latin typeface="-apple-system"/>
              </a:rPr>
              <a:t>B2)  </a:t>
            </a:r>
            <a:r>
              <a:rPr lang="cs-CZ" sz="1200" b="1" i="0" dirty="0" err="1">
                <a:solidFill>
                  <a:srgbClr val="172B4D"/>
                </a:solidFill>
                <a:effectLst/>
                <a:latin typeface="-apple-system"/>
              </a:rPr>
              <a:t>Versioned</a:t>
            </a:r>
            <a:r>
              <a:rPr lang="cs-CZ" sz="1200" b="1" i="0" dirty="0">
                <a:solidFill>
                  <a:srgbClr val="172B4D"/>
                </a:solidFill>
                <a:effectLst/>
                <a:latin typeface="-apple-system"/>
              </a:rPr>
              <a:t> </a:t>
            </a:r>
            <a:r>
              <a:rPr lang="cs-CZ" sz="1200" b="1" i="0" dirty="0" err="1">
                <a:solidFill>
                  <a:srgbClr val="172B4D"/>
                </a:solidFill>
                <a:effectLst/>
                <a:latin typeface="-apple-system"/>
              </a:rPr>
              <a:t>Template</a:t>
            </a:r>
            <a:r>
              <a:rPr lang="cs-CZ" sz="1200" b="1" i="0" dirty="0">
                <a:solidFill>
                  <a:srgbClr val="172B4D"/>
                </a:solidFill>
                <a:effectLst/>
                <a:latin typeface="-apple-system"/>
              </a:rPr>
              <a:t> </a:t>
            </a:r>
            <a:r>
              <a:rPr lang="cs-CZ" sz="1200" b="1" i="0" dirty="0" err="1">
                <a:solidFill>
                  <a:srgbClr val="172B4D"/>
                </a:solidFill>
                <a:effectLst/>
                <a:latin typeface="-apple-system"/>
              </a:rPr>
              <a:t>Library</a:t>
            </a:r>
            <a:endParaRPr lang="cs-CZ" sz="1200" b="1" i="0" dirty="0">
              <a:solidFill>
                <a:srgbClr val="172B4D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1000001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31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Rejection of the Meltano Alternative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Proof of Concept results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Body Left Placeholder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pPr lvl="4"/>
            <a:r>
              <a:rPr lang="en-GB" dirty="0"/>
              <a:t>Exporting 80 million records took approximately 4 hours with Meltano</a:t>
            </a:r>
          </a:p>
          <a:p>
            <a:pPr lvl="4"/>
            <a:r>
              <a:rPr lang="en-GB" dirty="0"/>
              <a:t>The other evaluated alternatives achieved significantly shorter times: AirPy 5 minutes, Informatica 8 minutes, Apache NiFi 15 minutes</a:t>
            </a:r>
          </a:p>
          <a:p>
            <a:pPr lvl="4"/>
            <a:r>
              <a:rPr lang="en-US" dirty="0"/>
              <a:t>Singer specification contributes to the slowdown: for large data volumes, it relies on batch processing, writing data to intermediate storage before loading it into the target</a:t>
            </a:r>
            <a:endParaRPr lang="en-GB" dirty="0"/>
          </a:p>
          <a:p>
            <a:pPr lvl="4"/>
            <a:r>
              <a:rPr lang="en-GB" dirty="0"/>
              <a:t>This could likely be optimized, but we decided not to pursue it further — it would require flow-specific optimization with an uncertain outcome</a:t>
            </a:r>
          </a:p>
          <a:p>
            <a:pPr lvl="4"/>
            <a:r>
              <a:rPr lang="en-GB" dirty="0"/>
              <a:t>Meltano can also only load data into Teradata — a connector for exporting data from Teradata does not exist for this tool</a:t>
            </a:r>
          </a:p>
          <a:p>
            <a:pPr lvl="4"/>
            <a:r>
              <a:rPr lang="en-GB" dirty="0"/>
              <a:t>Based on these results, the Meltano alternative was rejected from further evaluation</a:t>
            </a:r>
          </a:p>
        </p:txBody>
      </p:sp>
      <p:graphicFrame>
        <p:nvGraphicFramePr>
          <p:cNvPr id="7" name="Tabulka 6">
            <a:extLst>
              <a:ext uri="{FF2B5EF4-FFF2-40B4-BE49-F238E27FC236}">
                <a16:creationId xmlns:a16="http://schemas.microsoft.com/office/drawing/2014/main" id="{404D106F-B0BC-D0E0-E962-E31D9E9B0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996037"/>
              </p:ext>
            </p:extLst>
          </p:nvPr>
        </p:nvGraphicFramePr>
        <p:xfrm>
          <a:off x="7234235" y="1949756"/>
          <a:ext cx="3463930" cy="38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965">
                  <a:extLst>
                    <a:ext uri="{9D8B030D-6E8A-4147-A177-3AD203B41FA5}">
                      <a16:colId xmlns:a16="http://schemas.microsoft.com/office/drawing/2014/main" val="767678724"/>
                    </a:ext>
                  </a:extLst>
                </a:gridCol>
                <a:gridCol w="1731965">
                  <a:extLst>
                    <a:ext uri="{9D8B030D-6E8A-4147-A177-3AD203B41FA5}">
                      <a16:colId xmlns:a16="http://schemas.microsoft.com/office/drawing/2014/main" val="2895520159"/>
                    </a:ext>
                  </a:extLst>
                </a:gridCol>
              </a:tblGrid>
              <a:tr h="767344">
                <a:tc>
                  <a:txBody>
                    <a:bodyPr/>
                    <a:lstStyle/>
                    <a:p>
                      <a:r>
                        <a:rPr lang="cs-CZ" dirty="0" err="1"/>
                        <a:t>Tool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POC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541058"/>
                  </a:ext>
                </a:extLst>
              </a:tr>
              <a:tr h="767344">
                <a:tc>
                  <a:txBody>
                    <a:bodyPr/>
                    <a:lstStyle/>
                    <a:p>
                      <a:r>
                        <a:rPr lang="cs-CZ" dirty="0" err="1"/>
                        <a:t>AirPy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5 min.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728539"/>
                  </a:ext>
                </a:extLst>
              </a:tr>
              <a:tr h="767344">
                <a:tc>
                  <a:txBody>
                    <a:bodyPr/>
                    <a:lstStyle/>
                    <a:p>
                      <a:r>
                        <a:rPr lang="cs-CZ" dirty="0" err="1"/>
                        <a:t>Infa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8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18619"/>
                  </a:ext>
                </a:extLst>
              </a:tr>
              <a:tr h="767344">
                <a:tc>
                  <a:txBody>
                    <a:bodyPr/>
                    <a:lstStyle/>
                    <a:p>
                      <a:r>
                        <a:rPr lang="cs-CZ" dirty="0"/>
                        <a:t>NIFI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15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919706"/>
                  </a:ext>
                </a:extLst>
              </a:tr>
              <a:tr h="767344">
                <a:tc>
                  <a:txBody>
                    <a:bodyPr/>
                    <a:lstStyle/>
                    <a:p>
                      <a:r>
                        <a:rPr lang="cs-CZ" dirty="0" err="1"/>
                        <a:t>Meltano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4 </a:t>
                      </a:r>
                      <a:r>
                        <a:rPr lang="cs-CZ" dirty="0" err="1"/>
                        <a:t>hours</a:t>
                      </a:r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750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000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What is MiNiFi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A lightweight agent built on the Apache NiFi platform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Body Left Placeholder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lvl="4"/>
            <a:r>
              <a:rPr lang="en-GB" dirty="0"/>
              <a:t>The tool exists in two variants: a Java agent and a C++ agent</a:t>
            </a:r>
          </a:p>
          <a:p>
            <a:pPr lvl="4"/>
            <a:r>
              <a:rPr lang="en-GB" dirty="0"/>
              <a:t>The proposed solution uses the Java agent — the C++ variant has no Parquet writer, which is a hard requirement</a:t>
            </a:r>
          </a:p>
          <a:p>
            <a:pPr lvl="4"/>
            <a:r>
              <a:rPr lang="en-GB" dirty="0"/>
              <a:t>Included in every NiFi release since version 2.0</a:t>
            </a:r>
          </a:p>
          <a:p>
            <a:pPr lvl="4"/>
            <a:r>
              <a:rPr lang="en-GB" dirty="0"/>
              <a:t>Uses the same processors as NiFi — identical functional scope</a:t>
            </a:r>
          </a:p>
          <a:p>
            <a:pPr lvl="4"/>
            <a:r>
              <a:rPr lang="en-GB" dirty="0"/>
              <a:t>No web user interface — the flow definition is stored as a file in Git</a:t>
            </a:r>
          </a:p>
        </p:txBody>
      </p:sp>
      <p:pic>
        <p:nvPicPr>
          <p:cNvPr id="7" name="Picture Placeholder" descr="Apache MiNiFi logo"/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tretch>
            <a:fillRect/>
          </a:stretch>
        </p:blipFill>
        <p:spPr>
          <a:xfrm>
            <a:off x="6830000" y="2548000"/>
            <a:ext cx="4400000" cy="241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0000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33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Why MiNiFi Fits Our Case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Using ready-made components instead of custom development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Tile1 Body idx1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4"/>
            <a:r>
              <a:rPr lang="en-GB" dirty="0"/>
              <a:t>Oracle, MS SQL Server, PostgreSQL via JDBC</a:t>
            </a:r>
          </a:p>
          <a:p>
            <a:pPr lvl="4"/>
            <a:r>
              <a:rPr lang="en-GB" dirty="0"/>
              <a:t>Incremental extraction support</a:t>
            </a:r>
            <a:r>
              <a:rPr lang="cs-CZ" dirty="0"/>
              <a:t> </a:t>
            </a:r>
            <a:r>
              <a:rPr lang="cs-CZ" dirty="0" err="1"/>
              <a:t>through</a:t>
            </a:r>
            <a:r>
              <a:rPr lang="cs-CZ" dirty="0"/>
              <a:t> </a:t>
            </a:r>
            <a:r>
              <a:rPr lang="cs-CZ" dirty="0" err="1"/>
              <a:t>Configuration</a:t>
            </a:r>
            <a:endParaRPr lang="en-GB" dirty="0"/>
          </a:p>
        </p:txBody>
      </p:sp>
      <p:sp>
        <p:nvSpPr>
          <p:cNvPr id="7" name="Tile3 Body idx1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2"/>
            <a:r>
              <a:rPr lang="en-GB" dirty="0"/>
              <a:t>Built-in support for reading and writing Parquet</a:t>
            </a:r>
          </a:p>
          <a:p>
            <a:pPr lvl="2"/>
            <a:r>
              <a:rPr lang="en-GB" dirty="0"/>
              <a:t>Direct access to S3 storage</a:t>
            </a:r>
          </a:p>
        </p:txBody>
      </p:sp>
      <p:sp>
        <p:nvSpPr>
          <p:cNvPr id="8" name="Tile1 Header idx1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en-GB" dirty="0"/>
              <a:t>Databases</a:t>
            </a:r>
          </a:p>
        </p:txBody>
      </p:sp>
      <p:sp>
        <p:nvSpPr>
          <p:cNvPr id="9" name="Tile3 Header idx19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lvl="0"/>
            <a:r>
              <a:rPr lang="en-GB" dirty="0"/>
              <a:t>Parquet and S3</a:t>
            </a:r>
          </a:p>
        </p:txBody>
      </p:sp>
      <p:sp>
        <p:nvSpPr>
          <p:cNvPr id="10" name="Tile2 Body idx20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lvl="4"/>
            <a:r>
              <a:rPr lang="en-GB" dirty="0"/>
              <a:t>Native processors for both technologies</a:t>
            </a:r>
          </a:p>
          <a:p>
            <a:pPr lvl="4"/>
            <a:r>
              <a:rPr lang="en-GB" dirty="0"/>
              <a:t>One tool instead of combining AirPy and NiFi</a:t>
            </a:r>
          </a:p>
        </p:txBody>
      </p:sp>
      <p:sp>
        <p:nvSpPr>
          <p:cNvPr id="11" name="Tile4 Body idx2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lvl="2"/>
            <a:r>
              <a:rPr lang="en-GB" dirty="0"/>
              <a:t>The flow definition is a file, not just a UI-only configuration</a:t>
            </a:r>
          </a:p>
          <a:p>
            <a:pPr lvl="2"/>
            <a:r>
              <a:rPr lang="en-GB" dirty="0"/>
              <a:t>Versioned in Git, reviewed via pull requests</a:t>
            </a:r>
          </a:p>
        </p:txBody>
      </p:sp>
      <p:sp>
        <p:nvSpPr>
          <p:cNvPr id="12" name="Tile4 Header idx2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lvl="0"/>
            <a:r>
              <a:rPr lang="en-GB" dirty="0"/>
              <a:t>Flow as Code</a:t>
            </a:r>
          </a:p>
        </p:txBody>
      </p:sp>
      <p:sp>
        <p:nvSpPr>
          <p:cNvPr id="13" name="Tile2 Header idx23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lvl="0"/>
            <a:r>
              <a:rPr lang="en-GB" dirty="0"/>
              <a:t>Kafka and Elasticsearch</a:t>
            </a:r>
          </a:p>
        </p:txBody>
      </p:sp>
    </p:spTree>
    <p:extLst>
      <p:ext uri="{BB962C8B-B14F-4D97-AF65-F5344CB8AC3E}">
        <p14:creationId xmlns:p14="http://schemas.microsoft.com/office/powerpoint/2010/main" val="11000000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34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NiFi vs. MiNiFi Comparison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Source of the improved score and its cause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Intro Text"/>
          <p:cNvSpPr txBox="1"/>
          <p:nvPr/>
        </p:nvSpPr>
        <p:spPr>
          <a:xfrm>
            <a:off x="390000" y="1060000"/>
            <a:ext cx="5585986" cy="640000"/>
          </a:xfrm>
          <a:prstGeom prst="rect">
            <a:avLst/>
          </a:prstGeom>
        </p:spPr>
        <p:txBody>
          <a:bodyPr wrap="square">
            <a:normAutofit fontScale="77500" lnSpcReduction="20000"/>
          </a:bodyPr>
          <a:lstStyle/>
          <a:p>
            <a:r>
              <a:rPr lang="en-GB" sz="1400" dirty="0"/>
              <a:t>Both solutions use the same Apache NiFi processors. The difference lies in the deployment model — MiNiFi runs as a standalone pod started from Airflow, the flow definition is stored as a file in Git, and credential access is handled by the combination of Airflow and Kubernetes. The improved score therefore comes from the deployment model, not from the tool’s core.</a:t>
            </a:r>
          </a:p>
        </p:txBody>
      </p:sp>
      <p:graphicFrame>
        <p:nvGraphicFramePr>
          <p:cNvPr id="7" name="Comparison Table"/>
          <p:cNvGraphicFramePr>
            <a:graphicFrameLocks noGrp="1"/>
          </p:cNvGraphicFramePr>
          <p:nvPr/>
        </p:nvGraphicFramePr>
        <p:xfrm>
          <a:off x="390000" y="1780000"/>
          <a:ext cx="11410000" cy="33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GB" sz="1200" b="1" dirty="0"/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NiFi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MiNiFi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Difference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YAML configuration consistency in CI/CD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Git support in CI/CD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Alignment with target cloud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3 (in K8s)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Reuse potential in other entities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5 (DI?)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1 (DI)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Horizontal scalability (cross-load)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1 (with K8s)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Ease of environment promotion in CI/CD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Airflow SOGE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6 (PJE-REST)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CyberArk / Vault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Squad autonomy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Note Text"/>
          <p:cNvSpPr txBox="1"/>
          <p:nvPr/>
        </p:nvSpPr>
        <p:spPr>
          <a:xfrm>
            <a:off x="390000" y="5350000"/>
            <a:ext cx="11410000" cy="7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GB" sz="1200" i="1" dirty="0"/>
              <a:t>There is a moderate regression in support for incremental loads (from 0 to 2) — the solution does not use NiFi’s native processor state, but its own watermark management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1000001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35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Rationale — Why AirPy Was Not Selected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A strong score does not necessarily mean the best choice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Body Left Placeholder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lvl="4"/>
            <a:r>
              <a:rPr lang="en-GB" dirty="0"/>
              <a:t>AirPy achieves the best results in several categories — performance, operational parameters, availability of internal expertise, compliance with Greenbook requirements</a:t>
            </a:r>
          </a:p>
          <a:p>
            <a:pPr lvl="4"/>
            <a:r>
              <a:rPr lang="en-GB" dirty="0"/>
              <a:t>However, it requires developing and maintaining a custom framework within Airflow (watermark management, schema validation, Parquet generation)</a:t>
            </a:r>
          </a:p>
          <a:p>
            <a:pPr lvl="4"/>
            <a:r>
              <a:rPr lang="en-GB" dirty="0"/>
              <a:t>Supporting Kafka and Elasticsearch would require adding a second tool (NiFi), meaning operating two technology stacks and two CI/CD processes</a:t>
            </a:r>
          </a:p>
          <a:p>
            <a:pPr lvl="4"/>
            <a:r>
              <a:rPr lang="en-GB" dirty="0"/>
              <a:t>MiNiFi, by contrast, covers all source systems with a single tool, using ready-made components instead of custom development</a:t>
            </a:r>
          </a:p>
        </p:txBody>
      </p:sp>
    </p:spTree>
    <p:extLst>
      <p:ext uri="{BB962C8B-B14F-4D97-AF65-F5344CB8AC3E}">
        <p14:creationId xmlns:p14="http://schemas.microsoft.com/office/powerpoint/2010/main" val="11000001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36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Proof of Concept Results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Comparison of the remaining alternatives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graphicFrame>
        <p:nvGraphicFramePr>
          <p:cNvPr id="6" name="Po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57532"/>
              </p:ext>
            </p:extLst>
          </p:nvPr>
        </p:nvGraphicFramePr>
        <p:xfrm>
          <a:off x="390000" y="1900000"/>
          <a:ext cx="11410000" cy="13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endParaRPr lang="en-GB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/>
                        <a:t>AirPy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/>
                        <a:t>Informatica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/>
                        <a:t>NiFi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/>
                        <a:t>MiNiFi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lang="en-GB" sz="1200" dirty="0"/>
                        <a:t>Export of 80 million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8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1200" dirty="0"/>
                        <a:t>9</a:t>
                      </a:r>
                      <a:r>
                        <a:rPr lang="en-GB" sz="1200" dirty="0"/>
                        <a:t>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lang="en-GB" sz="1200" dirty="0"/>
                        <a:t>CyberArk integration and password rotation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validated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validated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issues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not verified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0001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37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Airflow to Kubernetes via REST API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A standard, reusable integration pattern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Body Left Placeholder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lvl="4"/>
            <a:r>
              <a:rPr lang="en-GB" dirty="0"/>
              <a:t>Airflow’s KubernetesPodOperator communicates with the Kubernetes API server using a standard REST API</a:t>
            </a:r>
          </a:p>
          <a:p>
            <a:pPr lvl="4"/>
            <a:r>
              <a:rPr lang="en-GB" dirty="0"/>
              <a:t>The connection between SOGE Airflow and Kubernetes in the KB environment is implemented purely as HTTPS REST calls, with no special protocol required</a:t>
            </a:r>
          </a:p>
          <a:p>
            <a:pPr lvl="4"/>
            <a:r>
              <a:rPr lang="en-GB" dirty="0"/>
              <a:t>HTTPS REST API should already be permitted on the network pass-throughs between SOGE and KB</a:t>
            </a:r>
          </a:p>
          <a:p>
            <a:pPr lvl="4"/>
            <a:r>
              <a:rPr lang="en-GB" dirty="0"/>
              <a:t>Security is generally favorable toward REST API</a:t>
            </a:r>
          </a:p>
          <a:p>
            <a:pPr lvl="4"/>
            <a:r>
              <a:rPr lang="en-GB" dirty="0"/>
              <a:t>This could become a general pattern for connecting SOGE Airflow with the KB environment</a:t>
            </a:r>
          </a:p>
        </p:txBody>
      </p:sp>
      <p:sp>
        <p:nvSpPr>
          <p:cNvPr id="7" name="Code Card"/>
          <p:cNvSpPr/>
          <p:nvPr/>
        </p:nvSpPr>
        <p:spPr>
          <a:xfrm>
            <a:off x="6173167" y="1109013"/>
            <a:ext cx="5715000" cy="4200000"/>
          </a:xfrm>
          <a:prstGeom prst="roundRect">
            <a:avLst>
              <a:gd name="adj" fmla="val 4281"/>
            </a:avLst>
          </a:prstGeom>
          <a:solidFill>
            <a:srgbClr val="F5F5F5"/>
          </a:solidFill>
          <a:ln>
            <a:solidFill>
              <a:srgbClr val="D9D9D9"/>
            </a:solidFill>
          </a:ln>
        </p:spPr>
        <p:txBody>
          <a:bodyPr wrap="square" lIns="180000" tIns="180000" rIns="180000" bIns="180000" anchor="t">
            <a:normAutofit/>
          </a:bodyPr>
          <a:lstStyle/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from airflow.providers.cncf.kubernetes.operators.pod \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import KubernetesPodOperator</a:t>
            </a:r>
          </a:p>
          <a:p>
            <a:pPr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run_minifi = KubernetesPodOperator(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task_id="run_minifi_crm_export",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namespace="crm-squad-ns",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image="harbor.kb.cz/minifi/minifi-template:1.4.0",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cmds=["/opt/minifi/bin/run.sh"],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arguments=["--config", "/config/exports.yaml"],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kubernetes_conn_id="kb_onprem_k8s",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get_logs=True,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is_delete_operator_pod=True,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8" name="Live Demo Note"/>
          <p:cNvSpPr txBox="1"/>
          <p:nvPr/>
        </p:nvSpPr>
        <p:spPr>
          <a:xfrm>
            <a:off x="6173167" y="5400000"/>
            <a:ext cx="5715000" cy="65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GB" sz="1200" i="1" dirty="0"/>
              <a:t>Live demo: a real DAG will be run in Airflow to show a task spinning up a pod in Kubernetes.</a:t>
            </a:r>
          </a:p>
        </p:txBody>
      </p:sp>
    </p:spTree>
    <p:extLst>
      <p:ext uri="{BB962C8B-B14F-4D97-AF65-F5344CB8AC3E}">
        <p14:creationId xmlns:p14="http://schemas.microsoft.com/office/powerpoint/2010/main" val="11000001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38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Recommendation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Target tool and next step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Body Left Placeholder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pPr lvl="4"/>
            <a:r>
              <a:rPr lang="en-GB" b="1" dirty="0"/>
              <a:t>Recommended tool: Apache MiNiFi (Java agent), run as a pod in Kubernetes, started per run from SOGE Airflow</a:t>
            </a:r>
            <a:r>
              <a:rPr lang="en-GB" dirty="0"/>
              <a:t> — replacing the previously recommended AirPy</a:t>
            </a:r>
          </a:p>
          <a:p>
            <a:pPr lvl="4"/>
            <a:r>
              <a:rPr lang="en-GB" dirty="0"/>
              <a:t>A single tool for all sources, including Kafka and Elasticsearch — no combination of two tools</a:t>
            </a:r>
          </a:p>
          <a:p>
            <a:pPr lvl="4"/>
            <a:r>
              <a:rPr lang="en-GB" dirty="0"/>
              <a:t>Ready-made components instead of a custom framework in Airflow</a:t>
            </a:r>
          </a:p>
          <a:p>
            <a:pPr lvl="4"/>
            <a:r>
              <a:rPr lang="en-GB" dirty="0"/>
              <a:t>Best result in Functional Capabilities, strong CI/CD and Git integration</a:t>
            </a:r>
          </a:p>
          <a:p>
            <a:pPr lvl="4"/>
            <a:r>
              <a:rPr lang="en-GB" dirty="0"/>
              <a:t>No licensing costs, good alignment with the target architecture (K8s, Airflow, S3, Versioned Template Library)</a:t>
            </a:r>
          </a:p>
          <a:p>
            <a:pPr lvl="4"/>
            <a:r>
              <a:rPr lang="en-GB" dirty="0"/>
              <a:t>AirPy remains a technically strong alternative, or fallback option, should the open validation items not be fulfilled</a:t>
            </a:r>
          </a:p>
          <a:p>
            <a:pPr lvl="4"/>
            <a:r>
              <a:rPr lang="en-GB" b="1" dirty="0"/>
              <a:t>Requested decision: approve MiNiFi as the target solution and proceed with validating the open items</a:t>
            </a:r>
          </a:p>
        </p:txBody>
      </p:sp>
    </p:spTree>
    <p:extLst>
      <p:ext uri="{BB962C8B-B14F-4D97-AF65-F5344CB8AC3E}">
        <p14:creationId xmlns:p14="http://schemas.microsoft.com/office/powerpoint/2010/main" val="11000001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39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Planned Next Steps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From technical validation to a go/no-go decision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Tile1 Body idx1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pPr lvl="4"/>
            <a:r>
              <a:rPr lang="en-GB" dirty="0"/>
              <a:t>CyberArk integration and password rotation (Airflow → Secret → env var)</a:t>
            </a:r>
          </a:p>
          <a:p>
            <a:pPr lvl="4"/>
            <a:r>
              <a:rPr lang="en-GB" dirty="0"/>
              <a:t>Pod lifecycle (wrapper / NiFi Stateless) — reliable detection of run completion</a:t>
            </a:r>
          </a:p>
          <a:p>
            <a:pPr lvl="4"/>
            <a:r>
              <a:rPr lang="en-GB" dirty="0"/>
              <a:t>Availability of processors (Parquet, Kafka, Elasticsearch, AWS/S3) in the MiNiFi Java distribution</a:t>
            </a:r>
          </a:p>
        </p:txBody>
      </p:sp>
      <p:sp>
        <p:nvSpPr>
          <p:cNvPr id="7" name="Tile3 Body idx17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pPr lvl="2"/>
            <a:r>
              <a:rPr lang="en-GB" dirty="0"/>
              <a:t>Confirming compliance with the Société Générale Greenbook</a:t>
            </a:r>
          </a:p>
          <a:p>
            <a:pPr lvl="2"/>
            <a:r>
              <a:rPr lang="en-GB" dirty="0"/>
              <a:t>Effort estimate in person-days (environment setup, upskilling, migration)</a:t>
            </a:r>
          </a:p>
          <a:p>
            <a:pPr lvl="2"/>
            <a:r>
              <a:rPr lang="en-GB" dirty="0"/>
              <a:t>Squad onboarding process (namespace, ServiceAccount, Conjur) with the Platform team</a:t>
            </a:r>
          </a:p>
        </p:txBody>
      </p:sp>
      <p:sp>
        <p:nvSpPr>
          <p:cNvPr id="8" name="Tile1 Header idx1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en-GB" dirty="0"/>
              <a:t>Phase 1 — Technical Validation (PoC)</a:t>
            </a:r>
          </a:p>
        </p:txBody>
      </p:sp>
      <p:sp>
        <p:nvSpPr>
          <p:cNvPr id="9" name="Tile3 Header idx19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lvl="0"/>
            <a:r>
              <a:rPr lang="en-GB" dirty="0"/>
              <a:t>Phase 3 — Governance and Compliance</a:t>
            </a:r>
          </a:p>
        </p:txBody>
      </p:sp>
      <p:sp>
        <p:nvSpPr>
          <p:cNvPr id="10" name="Tile2 Body idx20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lvl="4"/>
            <a:r>
              <a:rPr lang="en-GB" dirty="0"/>
              <a:t>Testing on larger data volumes</a:t>
            </a:r>
          </a:p>
          <a:p>
            <a:pPr lvl="4"/>
            <a:r>
              <a:rPr lang="en-GB" dirty="0"/>
              <a:t>Teradata connectivity and performance</a:t>
            </a:r>
          </a:p>
          <a:p>
            <a:pPr lvl="4"/>
            <a:r>
              <a:rPr lang="en-GB" dirty="0"/>
              <a:t>Validating the execution granularity model (pod per flow vs. per object) in real operation</a:t>
            </a:r>
          </a:p>
        </p:txBody>
      </p:sp>
      <p:sp>
        <p:nvSpPr>
          <p:cNvPr id="11" name="Tile4 Body idx21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/>
          </a:bodyPr>
          <a:lstStyle/>
          <a:p>
            <a:pPr lvl="2"/>
            <a:r>
              <a:rPr lang="en-GB" dirty="0"/>
              <a:t>Summary of PoC results → go/no-go decision for full migration</a:t>
            </a:r>
          </a:p>
        </p:txBody>
      </p:sp>
      <p:sp>
        <p:nvSpPr>
          <p:cNvPr id="12" name="Tile4 Header idx2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lvl="0"/>
            <a:r>
              <a:rPr lang="en-GB" dirty="0"/>
              <a:t>Decision Checkpoint</a:t>
            </a:r>
          </a:p>
        </p:txBody>
      </p:sp>
      <p:sp>
        <p:nvSpPr>
          <p:cNvPr id="13" name="Tile2 Header idx23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lvl="0"/>
            <a:r>
              <a:rPr lang="en-GB" dirty="0"/>
              <a:t>Phase 2 — Performance and Scale</a:t>
            </a:r>
          </a:p>
        </p:txBody>
      </p:sp>
    </p:spTree>
    <p:extLst>
      <p:ext uri="{BB962C8B-B14F-4D97-AF65-F5344CB8AC3E}">
        <p14:creationId xmlns:p14="http://schemas.microsoft.com/office/powerpoint/2010/main" val="1100000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/>
      </a:spPr>
      <a:bodyPr wrap="square" lIns="0" tIns="0" rIns="0" bIns="0" rtlCol="0" anchor="ctr"/>
      <a:lstStyle>
        <a:defPPr algn="l">
          <a:lnSpc>
            <a:spcPts val="1800"/>
          </a:lnSpc>
          <a:defRPr sz="1350" kern="0" spc="-34" dirty="0">
            <a:solidFill>
              <a:srgbClr val="909090">
                <a:alpha val="100000"/>
              </a:srgbClr>
            </a:solidFill>
            <a:latin typeface="Source Sans Pro SemiBold" pitchFamily="34" charset="0"/>
            <a:ea typeface="Source Sans Pro SemiBold" pitchFamily="34" charset="-122"/>
            <a:cs typeface="Source Sans Pro SemiBold" pitchFamily="34" charset="-12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1476</Words>
  <Application>Microsoft Office PowerPoint</Application>
  <PresentationFormat>Širokoúhlá obrazovka</PresentationFormat>
  <Paragraphs>229</Paragraphs>
  <Slides>39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39</vt:i4>
      </vt:variant>
    </vt:vector>
  </HeadingPairs>
  <TitlesOfParts>
    <vt:vector size="47" baseType="lpstr">
      <vt:lpstr>-apple-system</vt:lpstr>
      <vt:lpstr>Arial</vt:lpstr>
      <vt:lpstr>Calibri</vt:lpstr>
      <vt:lpstr>Calibri Light</vt:lpstr>
      <vt:lpstr>Consolas</vt:lpstr>
      <vt:lpstr>Source Sans Pro</vt:lpstr>
      <vt:lpstr>Source Sans Pro SemiBold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Lukas Pitter</dc:creator>
  <cp:lastModifiedBy>Jerabek Pavel</cp:lastModifiedBy>
  <cp:revision>29</cp:revision>
  <dcterms:created xsi:type="dcterms:W3CDTF">2024-01-03T16:58:28Z</dcterms:created>
  <dcterms:modified xsi:type="dcterms:W3CDTF">2026-09-29T09:15:54Z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76d9757-80ae-4c87-b4d7-9ffa7a0710d0_Enabled">
    <vt:lpwstr>true</vt:lpwstr>
  </property>
  <property fmtid="{D5CDD505-2E9C-101B-9397-08002B2CF9AE}" pid="3" name="MSIP_Label_076d9757-80ae-4c87-b4d7-9ffa7a0710d0_SetDate">
    <vt:lpwstr>2026-09-29T09:15:54Z</vt:lpwstr>
  </property>
  <property fmtid="{D5CDD505-2E9C-101B-9397-08002B2CF9AE}" pid="4" name="MSIP_Label_076d9757-80ae-4c87-b4d7-9ffa7a0710d0_Method">
    <vt:lpwstr>Standard</vt:lpwstr>
  </property>
  <property fmtid="{D5CDD505-2E9C-101B-9397-08002B2CF9AE}" pid="5" name="MSIP_Label_076d9757-80ae-4c87-b4d7-9ffa7a0710d0_Name">
    <vt:lpwstr>076d9757-80ae-4c87-b4d7-9ffa7a0710d0</vt:lpwstr>
  </property>
  <property fmtid="{D5CDD505-2E9C-101B-9397-08002B2CF9AE}" pid="6" name="MSIP_Label_076d9757-80ae-4c87-b4d7-9ffa7a0710d0_SiteId">
    <vt:lpwstr>c79e7c80-cff5-4503-b468-3702cea89272</vt:lpwstr>
  </property>
  <property fmtid="{D5CDD505-2E9C-101B-9397-08002B2CF9AE}" pid="7" name="MSIP_Label_076d9757-80ae-4c87-b4d7-9ffa7a0710d0_ActionId">
    <vt:lpwstr>c3e945b3-e63b-4ad7-87d0-1b32f3e9e834</vt:lpwstr>
  </property>
  <property fmtid="{D5CDD505-2E9C-101B-9397-08002B2CF9AE}" pid="8" name="MSIP_Label_076d9757-80ae-4c87-b4d7-9ffa7a0710d0_ContentBits">
    <vt:lpwstr>0</vt:lpwstr>
  </property>
  <property fmtid="{D5CDD505-2E9C-101B-9397-08002B2CF9AE}" pid="9" name="Kod_Duvernosti">
    <vt:lpwstr>KB_C1_INTERNAL_992521</vt:lpwstr>
  </property>
</Properties>
</file>
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500" r:id="rId2"/>
    <p:sldId id="501" r:id="rId3"/>
    <p:sldId id="503" r:id="rId4"/>
    <p:sldId id="502" r:id="rId5"/>
    <p:sldId id="401" r:id="rId6"/>
    <p:sldId id="402" r:id="rId7"/>
    <p:sldId id="504" r:id="rId8"/>
    <p:sldId id="511" r:id="rId9"/>
    <p:sldId id="507" r:id="rId10"/>
    <p:sldId id="274" r:id="rId11"/>
  </p:sldIdLst>
  <p:sldSz cx="12192000" cy="6858000"/>
  <p:notesSz cx="6858000" cy="9144000"/>
  <p:defaultTextStyle>
    <a:defPPr>
      <a:defRPr lang="en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09090"/>
    <a:srgbClr val="ADA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7"/>
    <p:restoredTop sz="94719"/>
  </p:normalViewPr>
  <p:slideViewPr>
    <p:cSldViewPr>
      <p:cViewPr varScale="1">
        <p:scale>
          <a:sx n="116" d="100"/>
          <a:sy n="116" d="100"/>
        </p:scale>
        <p:origin x="780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168" d="100"/>
          <a:sy n="168" d="100"/>
        </p:scale>
        <p:origin x="6640" y="216"/>
      </p:cViewPr>
      <p:guideLst/>
    </p:cSldViewPr>
  </p:notesViewPr>
  <p:gridSpacing cx="120014" cy="12001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2320C36-DC24-9ED4-9285-F5D0B778F49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943042-8AE0-5CD3-2129-3208B062890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B7E257-C412-4242-A355-113E9CC09C74}" type="datetimeFigureOut">
              <a:rPr lang="en-CZ" smtClean="0"/>
              <a:t>09/29/2026</a:t>
            </a:fld>
            <a:endParaRPr lang="en-C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6CDA26-C1FF-94A3-C007-15CD1CC727F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EA3F51-E3B4-B290-9045-934B6BA49CA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C26D12-D636-824E-9AE4-A01881B3441F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38854084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39C9E-DFEA-E74F-96C8-E003C538A4D5}" type="datetimeFigureOut">
              <a:rPr lang="en-CZ" smtClean="0"/>
              <a:t>09/29/2026</a:t>
            </a:fld>
            <a:endParaRPr lang="en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BBFD19-864A-2B40-B388-40CB282C2D58}" type="slidenum">
              <a:rPr lang="en-CZ" smtClean="0"/>
              <a:t>‹#›</a:t>
            </a:fld>
            <a:endParaRPr lang="en-CZ"/>
          </a:p>
        </p:txBody>
      </p:sp>
    </p:spTree>
    <p:extLst>
      <p:ext uri="{BB962C8B-B14F-4D97-AF65-F5344CB8AC3E}">
        <p14:creationId xmlns:p14="http://schemas.microsoft.com/office/powerpoint/2010/main" val="1815089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screen Imag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ed rectangular object with black text&#10;&#10;AI-generated content may be incorrect.">
            <a:extLst>
              <a:ext uri="{FF2B5EF4-FFF2-40B4-BE49-F238E27FC236}">
                <a16:creationId xmlns:a16="http://schemas.microsoft.com/office/drawing/2014/main" id="{9FB51FD0-70D5-87C5-73B4-E4694559EEF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8" name="Image 2" descr=" ">
            <a:extLst>
              <a:ext uri="{FF2B5EF4-FFF2-40B4-BE49-F238E27FC236}">
                <a16:creationId xmlns:a16="http://schemas.microsoft.com/office/drawing/2014/main" id="{F696AA6D-7B2B-9E7A-16B9-E36EB7D493E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02419" y="6238229"/>
            <a:ext cx="199407" cy="18583"/>
          </a:xfrm>
          <a:prstGeom prst="rect">
            <a:avLst/>
          </a:prstGeom>
        </p:spPr>
      </p:pic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8C61645C-D48D-090F-C2EE-55373066A0B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95510" y="463277"/>
            <a:ext cx="3813857" cy="232185"/>
          </a:xfrm>
        </p:spPr>
        <p:txBody>
          <a:bodyPr lIns="0" anchor="ctr">
            <a:normAutofit/>
          </a:bodyPr>
          <a:lstStyle>
            <a:lvl1pPr marL="0" indent="0" algn="ctr">
              <a:buNone/>
              <a:defRPr sz="135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CZ" dirty="0"/>
              <a:t>C1 Úroveň zabezpečení | XX.XX.XXXX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BF70079-2AB8-E980-0B3D-21FADCC9C15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5328" y="1013282"/>
            <a:ext cx="6480756" cy="2366480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Presentation Title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268D20D9-FA91-EC73-296F-A97036CC94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5328" y="3515889"/>
            <a:ext cx="6480756" cy="1902833"/>
          </a:xfrm>
        </p:spPr>
        <p:txBody>
          <a:bodyPr anchor="t">
            <a:normAutofit/>
          </a:bodyPr>
          <a:lstStyle>
            <a:lvl1pPr marL="0" indent="0" algn="ctr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Speaker 1, Job Position</a:t>
            </a:r>
          </a:p>
          <a:p>
            <a:pPr lvl="0"/>
            <a:r>
              <a:rPr lang="en-GB" dirty="0"/>
              <a:t>Speaker 2, Job Position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7880078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lcome screen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square object with a red background&#10;&#10;AI-generated content may be incorrect.">
            <a:extLst>
              <a:ext uri="{FF2B5EF4-FFF2-40B4-BE49-F238E27FC236}">
                <a16:creationId xmlns:a16="http://schemas.microsoft.com/office/drawing/2014/main" id="{113C6E9E-01AF-99AB-57DB-2005572AEB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4210275"/>
            <a:ext cx="9757753" cy="1576834"/>
          </a:xfrm>
        </p:spPr>
        <p:txBody>
          <a:bodyPr anchor="t">
            <a:normAutofit/>
          </a:bodyPr>
          <a:lstStyle>
            <a:lvl1pPr marL="0" indent="0" algn="l">
              <a:buFontTx/>
              <a:buNone/>
              <a:defRPr sz="5750" spc="-2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Presentation Title</a:t>
            </a:r>
          </a:p>
        </p:txBody>
      </p:sp>
      <p:sp>
        <p:nvSpPr>
          <p:cNvPr id="19" name="Text Placeholder 14">
            <a:extLst>
              <a:ext uri="{FF2B5EF4-FFF2-40B4-BE49-F238E27FC236}">
                <a16:creationId xmlns:a16="http://schemas.microsoft.com/office/drawing/2014/main" id="{1F5FFD48-1135-003F-BE12-A4D8BD8830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97286" y="540768"/>
            <a:ext cx="9757441" cy="232185"/>
          </a:xfrm>
        </p:spPr>
        <p:txBody>
          <a:bodyPr lIns="90000" anchor="ctr">
            <a:normAutofit/>
          </a:bodyPr>
          <a:lstStyle>
            <a:lvl1pPr marL="0" indent="0" algn="l">
              <a:buNone/>
              <a:defRPr sz="1350" spc="-4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C1 Úroveň zabezpečení | XX.XX.XXXX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6975" y="3258882"/>
            <a:ext cx="9757752" cy="809625"/>
          </a:xfrm>
        </p:spPr>
        <p:txBody>
          <a:bodyPr anchor="b">
            <a:normAutofit/>
          </a:bodyPr>
          <a:lstStyle>
            <a:lvl1pPr marL="0" indent="0">
              <a:buFontTx/>
              <a:buNone/>
              <a:defRPr sz="21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Speaker Name, Job Position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35548329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436968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36968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4BFCEA7A-4C33-A425-8D36-AEB6FC3946D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-1" y="0"/>
            <a:ext cx="4068773" cy="6858000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pic>
        <p:nvPicPr>
          <p:cNvPr id="15" name="Picture 14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4A4EF927-3407-5CAD-43C4-A7FC5993C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25888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808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6590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/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2707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  <p:pic>
        <p:nvPicPr>
          <p:cNvPr id="15" name="Picture 14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4A4EF927-3407-5CAD-43C4-A7FC5993C6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85598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568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ackground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rectangular object with black background&#10;&#10;AI-generated content may be incorrect.">
            <a:extLst>
              <a:ext uri="{FF2B5EF4-FFF2-40B4-BE49-F238E27FC236}">
                <a16:creationId xmlns:a16="http://schemas.microsoft.com/office/drawing/2014/main" id="{B2137E87-0830-5333-70AF-71211948C9A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B16C53D5-A182-DB76-1541-03C096A403F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6590" y="2670248"/>
            <a:ext cx="6480756" cy="2366480"/>
          </a:xfrm>
        </p:spPr>
        <p:txBody>
          <a:bodyPr anchor="b">
            <a:normAutofit/>
          </a:bodyPr>
          <a:lstStyle>
            <a:lvl1pPr marL="0" indent="0" algn="l">
              <a:buFontTx/>
              <a:buNone/>
              <a:defRPr sz="4400" spc="-7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Section</a:t>
            </a:r>
          </a:p>
        </p:txBody>
      </p:sp>
      <p:sp>
        <p:nvSpPr>
          <p:cNvPr id="9" name="Text Placeholder 21">
            <a:extLst>
              <a:ext uri="{FF2B5EF4-FFF2-40B4-BE49-F238E27FC236}">
                <a16:creationId xmlns:a16="http://schemas.microsoft.com/office/drawing/2014/main" id="{60507C64-1E1A-B976-EDA8-92A6D207CE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02707" y="564034"/>
            <a:ext cx="6480756" cy="1921416"/>
          </a:xfrm>
        </p:spPr>
        <p:txBody>
          <a:bodyPr anchor="t">
            <a:normAutofit/>
          </a:bodyPr>
          <a:lstStyle>
            <a:lvl1pPr marL="0" indent="0" algn="l">
              <a:lnSpc>
                <a:spcPct val="80000"/>
              </a:lnSpc>
              <a:buFontTx/>
              <a:buNone/>
              <a:defRPr sz="21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1 A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42544194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ru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3124041"/>
            <a:ext cx="9757753" cy="1576834"/>
          </a:xfrm>
        </p:spPr>
        <p:txBody>
          <a:bodyPr anchor="t">
            <a:normAutofit/>
          </a:bodyPr>
          <a:lstStyle>
            <a:lvl1pPr marL="0" indent="0" algn="ctr">
              <a:buFontTx/>
              <a:buNone/>
              <a:defRPr sz="5750" spc="-22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CZ" dirty="0"/>
              <a:t>Rule number one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7286" y="2480465"/>
            <a:ext cx="9769715" cy="668124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2600" b="1" i="0" spc="-60" baseline="0">
                <a:solidFill>
                  <a:srgbClr val="909090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Rule #1</a:t>
            </a:r>
            <a:endParaRPr lang="en-CZ" dirty="0"/>
          </a:p>
        </p:txBody>
      </p:sp>
      <p:pic>
        <p:nvPicPr>
          <p:cNvPr id="4" name="Picture 3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BE6F4253-66D5-BFAF-D7A8-A3DE4917DE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704729" y="6096903"/>
            <a:ext cx="782541" cy="30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1704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rule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and black curved object&#10;&#10;AI-generated content may be incorrect.">
            <a:extLst>
              <a:ext uri="{FF2B5EF4-FFF2-40B4-BE49-F238E27FC236}">
                <a16:creationId xmlns:a16="http://schemas.microsoft.com/office/drawing/2014/main" id="{642FFEE4-A78C-ED95-44C1-9D47F5FB80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A3DDC89A-E0DD-37E1-29F2-14EE3B42A1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02772" y="3124041"/>
            <a:ext cx="9757753" cy="1576834"/>
          </a:xfrm>
        </p:spPr>
        <p:txBody>
          <a:bodyPr anchor="t">
            <a:normAutofit/>
          </a:bodyPr>
          <a:lstStyle>
            <a:lvl1pPr marL="0" indent="0" algn="ctr">
              <a:buFontTx/>
              <a:buNone/>
              <a:defRPr sz="5750" spc="-22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CZ" dirty="0"/>
              <a:t>Rule number one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F39D871D-D5C0-96BF-2D9E-DF255FDCB0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7286" y="2480465"/>
            <a:ext cx="9769715" cy="668124"/>
          </a:xfrm>
        </p:spPr>
        <p:txBody>
          <a:bodyPr anchor="b">
            <a:normAutofit/>
          </a:bodyPr>
          <a:lstStyle>
            <a:lvl1pPr marL="0" indent="0" algn="ctr">
              <a:buFontTx/>
              <a:buNone/>
              <a:defRPr sz="2600" b="1" i="0" spc="-60" baseline="0">
                <a:solidFill>
                  <a:schemeClr val="bg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</a:defRPr>
            </a:lvl1pPr>
          </a:lstStyle>
          <a:p>
            <a:pPr lvl="0"/>
            <a:r>
              <a:rPr lang="en-GB" dirty="0"/>
              <a:t>Rule #1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2639587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291577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5715000" cy="4588971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0639" y="1809750"/>
            <a:ext cx="5702441" cy="4584872"/>
          </a:xfrm>
        </p:spPr>
        <p:txBody>
          <a:bodyPr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6561" y="1430793"/>
            <a:ext cx="571063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4166146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white rectangular object with black dots&#10;&#10;Description automatically generated">
            <a:extLst>
              <a:ext uri="{FF2B5EF4-FFF2-40B4-BE49-F238E27FC236}">
                <a16:creationId xmlns:a16="http://schemas.microsoft.com/office/drawing/2014/main" id="{D0A56A95-2651-7BE3-CCA5-6FFD906634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3748675" cy="4588971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23474" y="1809750"/>
            <a:ext cx="3748674" cy="4584872"/>
          </a:xfrm>
        </p:spPr>
        <p:txBody>
          <a:bodyPr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23475" y="1430793"/>
            <a:ext cx="3748674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5" name="Text Placeholder 22">
            <a:extLst>
              <a:ext uri="{FF2B5EF4-FFF2-40B4-BE49-F238E27FC236}">
                <a16:creationId xmlns:a16="http://schemas.microsoft.com/office/drawing/2014/main" id="{FF836928-D44A-F6A4-55EF-EEE3A562A40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121650" y="1809750"/>
            <a:ext cx="3765550" cy="4584872"/>
          </a:xfrm>
        </p:spPr>
        <p:txBody>
          <a:bodyPr rIns="324000"/>
          <a:lstStyle/>
          <a:p>
            <a:pPr lvl="0"/>
            <a:r>
              <a:rPr lang="en-CZ" dirty="0"/>
              <a:t>Donec ultricies, nisi eget porttitor.</a:t>
            </a:r>
          </a:p>
          <a:p>
            <a:pPr lvl="2"/>
            <a:r>
              <a:rPr lang="en-CZ" dirty="0"/>
              <a:t>Mauris in porta sapien. Morbi.</a:t>
            </a:r>
          </a:p>
          <a:p>
            <a:pPr lvl="2"/>
            <a:r>
              <a:rPr lang="en-CZ" dirty="0"/>
              <a:t>Nulla turpis magna, malesuada.</a:t>
            </a:r>
          </a:p>
          <a:p>
            <a:pPr lvl="2"/>
            <a:r>
              <a:rPr lang="en-CZ" dirty="0"/>
              <a:t>Nunc feugiat nunc.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33E1FDA4-9661-C8FC-6074-D7BC1D4F615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5472" y="1433968"/>
            <a:ext cx="3768077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5375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0402405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C72BF794-86A9-C2D6-8D24-126A1602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805651"/>
            <a:ext cx="5706870" cy="1865699"/>
          </a:xfrm>
        </p:spPr>
        <p:txBody>
          <a:bodyPr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887A2D13-2D2B-57A4-8C70-B8EA29514A7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03835" y="4528922"/>
            <a:ext cx="5711954" cy="1865699"/>
          </a:xfrm>
        </p:spPr>
        <p:txBody>
          <a:bodyPr rIns="324000"/>
          <a:lstStyle/>
          <a:p>
            <a:pPr lvl="2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, nisi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in porta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Morbi.</a:t>
            </a:r>
          </a:p>
          <a:p>
            <a:pPr lvl="2"/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turpis</a:t>
            </a:r>
            <a:r>
              <a:rPr lang="en-GB" dirty="0">
                <a:effectLst/>
              </a:rPr>
              <a:t> magna,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>
                <a:effectLst/>
              </a:rPr>
              <a:t>Nunc </a:t>
            </a:r>
            <a:r>
              <a:rPr lang="en-GB" dirty="0" err="1">
                <a:effectLst/>
              </a:rPr>
              <a:t>feugiat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7926" y="415908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A6A74171-E976-3643-BF25-896194A80BB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1297" y="1805651"/>
            <a:ext cx="5706870" cy="1865699"/>
          </a:xfrm>
        </p:spPr>
        <p:txBody>
          <a:bodyPr rIns="324000"/>
          <a:lstStyle/>
          <a:p>
            <a:pPr lvl="4"/>
            <a:r>
              <a:rPr lang="en-GB" dirty="0">
                <a:effectLst/>
              </a:rPr>
              <a:t>Cras auctor,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</a:t>
            </a:r>
          </a:p>
          <a:p>
            <a:pPr lvl="4"/>
            <a:r>
              <a:rPr lang="en-GB" dirty="0">
                <a:effectLst/>
              </a:rPr>
              <a:t>Vestibulum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, ex et </a:t>
            </a:r>
            <a:r>
              <a:rPr lang="en-GB" dirty="0" err="1">
                <a:effectLst/>
              </a:rPr>
              <a:t>placerat</a:t>
            </a:r>
            <a:endParaRPr lang="en-GB" dirty="0">
              <a:effectLst/>
            </a:endParaRPr>
          </a:p>
          <a:p>
            <a:pPr lvl="4"/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endParaRPr lang="en-CZ" dirty="0"/>
          </a:p>
        </p:txBody>
      </p:sp>
      <p:sp>
        <p:nvSpPr>
          <p:cNvPr id="10" name="Text Placeholder 22">
            <a:extLst>
              <a:ext uri="{FF2B5EF4-FFF2-40B4-BE49-F238E27FC236}">
                <a16:creationId xmlns:a16="http://schemas.microsoft.com/office/drawing/2014/main" id="{BBBD009F-15D0-60CD-B3CA-988DFB10F97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6213" y="4528922"/>
            <a:ext cx="5711954" cy="1865699"/>
          </a:xfrm>
        </p:spPr>
        <p:txBody>
          <a:bodyPr rIns="324000"/>
          <a:lstStyle/>
          <a:p>
            <a:pPr lvl="2"/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, lorem at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 dictum.</a:t>
            </a:r>
          </a:p>
          <a:p>
            <a:pPr lvl="2"/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magna.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ex.</a:t>
            </a:r>
          </a:p>
          <a:p>
            <a:pPr lvl="2"/>
            <a:r>
              <a:rPr lang="en-GB" dirty="0">
                <a:effectLst/>
              </a:rPr>
              <a:t>Aenean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neque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D6D00DAC-600E-653C-1D40-A87E3A064EF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180304" y="415908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47C08DB3-E084-4CE9-0A02-26C5C499DFE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76213" y="1430793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42021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6CA2F6AE-3BF0-564A-2189-7F2EF7BA7F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07926" y="3836355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Proin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ornare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commodo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consectetur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,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sagittis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purus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501CA1E-D2CD-EDC4-D9AC-9729D86EEC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7926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Duis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sollicitudin</a:t>
            </a:r>
            <a:r>
              <a:rPr lang="en-GB" dirty="0">
                <a:effectLst/>
              </a:rPr>
              <a:t> nisi.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metus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consequat</a:t>
            </a:r>
            <a:r>
              <a:rPr lang="en-GB" dirty="0">
                <a:effectLst/>
              </a:rPr>
              <a:t> in,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Vivamus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 libero. Maecenas vestibulum.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C2FE33D-DF87-F832-AAAD-D8759EEF3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907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. Nam </a:t>
            </a:r>
            <a:r>
              <a:rPr lang="en-GB" dirty="0" err="1">
                <a:effectLst/>
              </a:rPr>
              <a:t>mollis</a:t>
            </a:r>
            <a:r>
              <a:rPr lang="en-GB" dirty="0">
                <a:effectLst/>
              </a:rPr>
              <a:t> fermentum </a:t>
            </a:r>
            <a:r>
              <a:rPr lang="en-GB" dirty="0" err="1">
                <a:effectLst/>
              </a:rPr>
              <a:t>lacus</a:t>
            </a:r>
            <a:r>
              <a:rPr lang="en-GB" dirty="0">
                <a:effectLst/>
              </a:rPr>
              <a:t>. 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A798195-7A30-2172-FD40-31EF699D19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1888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risus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imperdiet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lorem.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DDFBAB27-E799-03C9-A3C7-0381590EFB7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73607" y="3836355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egestas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, non maximus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 in mi.</a:t>
            </a:r>
          </a:p>
        </p:txBody>
      </p:sp>
    </p:spTree>
    <p:extLst>
      <p:ext uri="{BB962C8B-B14F-4D97-AF65-F5344CB8AC3E}">
        <p14:creationId xmlns:p14="http://schemas.microsoft.com/office/powerpoint/2010/main" val="32668964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Tiles–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squares on a white background&#10;&#10;Description automatically generated">
            <a:extLst>
              <a:ext uri="{FF2B5EF4-FFF2-40B4-BE49-F238E27FC236}">
                <a16:creationId xmlns:a16="http://schemas.microsoft.com/office/drawing/2014/main" id="{415059ED-DF8B-5043-BA2C-743B9405BD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1999" cy="6857999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0501CA1E-D2CD-EDC4-D9AC-9729D86EECB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7926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Duis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sollicitudin</a:t>
            </a:r>
            <a:r>
              <a:rPr lang="en-GB" dirty="0">
                <a:effectLst/>
              </a:rPr>
              <a:t> nisi.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metus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consequat</a:t>
            </a:r>
            <a:r>
              <a:rPr lang="en-GB" dirty="0">
                <a:effectLst/>
              </a:rPr>
              <a:t> in,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Vivamus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 libero. Maecenas vestibulum.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3C2FE33D-DF87-F832-AAAD-D8759EEF312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4907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lobortis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. Nam </a:t>
            </a:r>
            <a:r>
              <a:rPr lang="en-GB" dirty="0" err="1">
                <a:effectLst/>
              </a:rPr>
              <a:t>mollis</a:t>
            </a:r>
            <a:r>
              <a:rPr lang="en-GB" dirty="0">
                <a:effectLst/>
              </a:rPr>
              <a:t> fermentum </a:t>
            </a:r>
            <a:r>
              <a:rPr lang="en-GB" dirty="0" err="1">
                <a:effectLst/>
              </a:rPr>
              <a:t>lacus</a:t>
            </a:r>
            <a:r>
              <a:rPr lang="en-GB" dirty="0">
                <a:effectLst/>
              </a:rPr>
              <a:t>. 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CA798195-7A30-2172-FD40-31EF699D19E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1888" y="1114359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risus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imperdiet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lorem.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E7549758-A2DD-D42E-BFDE-03BF460B595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11052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Proin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ornare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augue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commodo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consectetur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,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sagittis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purus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iaculis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B408C7F1-4E97-33E6-5C76-0AD1AE80A60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218033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egestas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, non maximus </a:t>
            </a:r>
            <a:r>
              <a:rPr lang="en-GB" dirty="0" err="1">
                <a:effectLst/>
              </a:rPr>
              <a:t>tortor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 in mi.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80F647A-9366-A7DD-2048-9C1E320BD49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25014" y="3838446"/>
            <a:ext cx="3762185" cy="2556130"/>
          </a:xfrm>
        </p:spPr>
        <p:txBody>
          <a:bodyPr lIns="306000" tIns="324000" rIns="306000" anchor="t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vulputate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pretium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Mauris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diam</a:t>
            </a:r>
            <a:r>
              <a:rPr lang="en-GB" dirty="0">
                <a:effectLst/>
              </a:rPr>
              <a:t> a </a:t>
            </a:r>
            <a:r>
              <a:rPr lang="en-GB" dirty="0" err="1">
                <a:effectLst/>
              </a:rPr>
              <a:t>tellus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efficitur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. Maecenas </a:t>
            </a:r>
            <a:r>
              <a:rPr lang="en-GB" dirty="0" err="1">
                <a:effectLst/>
              </a:rPr>
              <a:t>feugiat</a:t>
            </a:r>
            <a:r>
              <a:rPr lang="en-GB" dirty="0">
                <a:effectLst/>
              </a:rPr>
              <a:t> ante.</a:t>
            </a:r>
          </a:p>
        </p:txBody>
      </p:sp>
    </p:spTree>
    <p:extLst>
      <p:ext uri="{BB962C8B-B14F-4D97-AF65-F5344CB8AC3E}">
        <p14:creationId xmlns:p14="http://schemas.microsoft.com/office/powerpoint/2010/main" val="16626157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Tile–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rectangular object with a black border&#10;&#10;Description automatically generated">
            <a:extLst>
              <a:ext uri="{FF2B5EF4-FFF2-40B4-BE49-F238E27FC236}">
                <a16:creationId xmlns:a16="http://schemas.microsoft.com/office/drawing/2014/main" id="{C88D61EF-9F72-416B-0D60-FAA12B5486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1158433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910157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lose up of a card&#10;&#10;Description automatically generated">
            <a:extLst>
              <a:ext uri="{FF2B5EF4-FFF2-40B4-BE49-F238E27FC236}">
                <a16:creationId xmlns:a16="http://schemas.microsoft.com/office/drawing/2014/main" id="{1953CDB6-D0DB-DC8C-105A-A75847BF36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89912CB4-4140-BFD0-34DC-C64D3FBE07C7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961BF4BD-0E64-0DBF-120C-1FAFE9CBD29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3167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2661984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white rectangular object with black dots&#10;&#10;Description automatically generated">
            <a:extLst>
              <a:ext uri="{FF2B5EF4-FFF2-40B4-BE49-F238E27FC236}">
                <a16:creationId xmlns:a16="http://schemas.microsoft.com/office/drawing/2014/main" id="{2EB4F304-94CF-9885-403A-87909578EAB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70C7F4C-438D-A8C1-B442-977879FDC374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C7FD77BC-6290-0713-A2B1-5AC240CC270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08FE725D-7C57-F50C-8DCF-37954C00015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211299" y="1106937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3743C530-F7D4-3A67-E309-896307902ED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11299" y="1440749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93ED9C50-B697-3F7F-1F7F-F7B380BF133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6FEBF151-E5B1-3534-88CD-24D8410A7B3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8030045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C72BF794-86A9-C2D6-8D24-126A16020A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61F4D840-AD8A-70EC-BF49-C6E027042073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307743" y="1108744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604AEA9-C1EA-BD25-22E7-0C6F4BC7A99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3039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1" name="Picture Placeholder 10">
            <a:extLst>
              <a:ext uri="{FF2B5EF4-FFF2-40B4-BE49-F238E27FC236}">
                <a16:creationId xmlns:a16="http://schemas.microsoft.com/office/drawing/2014/main" id="{36DC948E-A205-CDE5-9740-DEA2F2537639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6177387" y="1108744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0A1948BC-EFE8-D695-1AE1-BEA2F1F3AE5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73479" y="1433039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A1ECD638-8B2D-0E33-7DA4-C15262448363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307743" y="3834025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409DC529-660A-5FAF-68AD-1D137FC36D5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03835" y="4158320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27" name="Picture Placeholder 10">
            <a:extLst>
              <a:ext uri="{FF2B5EF4-FFF2-40B4-BE49-F238E27FC236}">
                <a16:creationId xmlns:a16="http://schemas.microsoft.com/office/drawing/2014/main" id="{880F9B78-5A7E-8C54-8457-7EFA8F6CD6F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6177387" y="3834025"/>
            <a:ext cx="5706870" cy="2563134"/>
          </a:xfrm>
          <a:prstGeom prst="roundRect">
            <a:avLst>
              <a:gd name="adj" fmla="val 9136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017FF94B-1DDA-95AA-55DD-B18570AF3A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173479" y="4158320"/>
            <a:ext cx="570687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3405206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+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3434557A-F92F-323B-739D-76CD5718A14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4781"/>
            <a:ext cx="5715000" cy="5289842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" name="Picture Placeholder 10">
            <a:extLst>
              <a:ext uri="{FF2B5EF4-FFF2-40B4-BE49-F238E27FC236}">
                <a16:creationId xmlns:a16="http://schemas.microsoft.com/office/drawing/2014/main" id="{C41B170E-89EB-306F-074C-6A9316A9970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17189BC2-BE25-1E96-16E9-0C5197E7728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6561" y="1430793"/>
            <a:ext cx="5710639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6583989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+Conten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close up of a card&#10;&#10;Description automatically generated">
            <a:extLst>
              <a:ext uri="{FF2B5EF4-FFF2-40B4-BE49-F238E27FC236}">
                <a16:creationId xmlns:a16="http://schemas.microsoft.com/office/drawing/2014/main" id="{1873D2AC-18FB-989A-FE44-E9B5CD924E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BC5A91B5-6135-C30A-5A66-DCBDB82CE99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80639" y="1104780"/>
            <a:ext cx="5702441" cy="5289842"/>
          </a:xfrm>
        </p:spPr>
        <p:txBody>
          <a:bodyPr tIns="324000"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0B6EF450-3C96-CDA7-78AC-237761C2EE39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47653751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phone&#10;&#10;Description automatically generated">
            <a:extLst>
              <a:ext uri="{FF2B5EF4-FFF2-40B4-BE49-F238E27FC236}">
                <a16:creationId xmlns:a16="http://schemas.microsoft.com/office/drawing/2014/main" id="{C945A0E4-5813-3709-B9BD-7F2AF6C785F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7" name="Text Placeholder 22">
            <a:extLst>
              <a:ext uri="{FF2B5EF4-FFF2-40B4-BE49-F238E27FC236}">
                <a16:creationId xmlns:a16="http://schemas.microsoft.com/office/drawing/2014/main" id="{0A18D2FB-0246-3EDD-7A8F-FC8F3B95C55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4781"/>
            <a:ext cx="3763072" cy="5289842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F22FED59-3E64-B8CC-1AC2-28AD6DA9F258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4229100" y="1109013"/>
            <a:ext cx="7659067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FCA771E8-1AF1-B711-4453-25A3964510B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9100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8590094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phone&#10;&#10;Description automatically generated">
            <a:extLst>
              <a:ext uri="{FF2B5EF4-FFF2-40B4-BE49-F238E27FC236}">
                <a16:creationId xmlns:a16="http://schemas.microsoft.com/office/drawing/2014/main" id="{E1D5169E-3C96-F545-A005-3A2764BBCEB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84F3449B-C559-73F6-46A8-A4BAFBD73B6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4" y="1109013"/>
            <a:ext cx="7674305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B7A88CD3-DA4A-12F5-4288-A34CE4FC475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4825" y="1104780"/>
            <a:ext cx="3758255" cy="5289842"/>
          </a:xfrm>
        </p:spPr>
        <p:txBody>
          <a:bodyPr tIns="324000" rIns="324000"/>
          <a:lstStyle/>
          <a:p>
            <a:pPr lvl="2"/>
            <a:r>
              <a:rPr lang="en-CZ" dirty="0"/>
              <a:t>Cras auctor,justo non</a:t>
            </a:r>
          </a:p>
          <a:p>
            <a:pPr lvl="2"/>
            <a:r>
              <a:rPr lang="en-CZ" dirty="0"/>
              <a:t>Vestibulum volutpat, ex et placerat</a:t>
            </a:r>
          </a:p>
          <a:p>
            <a:pPr lvl="2"/>
            <a:r>
              <a:rPr lang="en-CZ" dirty="0"/>
              <a:t>Curabitur sed</a:t>
            </a:r>
          </a:p>
          <a:p>
            <a:pPr lvl="2"/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23780992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Content+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rectangular object with black dots&#10;&#10;Description automatically generated with medium confidence">
            <a:extLst>
              <a:ext uri="{FF2B5EF4-FFF2-40B4-BE49-F238E27FC236}">
                <a16:creationId xmlns:a16="http://schemas.microsoft.com/office/drawing/2014/main" id="{076A6F03-4902-A51A-B12F-AE3FB95F5C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1" y="0"/>
            <a:ext cx="12191999" cy="6857999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601D10A0-923E-FAB1-E456-AB63C755247C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173167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C653525F-23C7-7BB2-C46A-A5F5895A1E4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3167" y="1430793"/>
            <a:ext cx="5715000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9" name="Text Placeholder 22">
            <a:extLst>
              <a:ext uri="{FF2B5EF4-FFF2-40B4-BE49-F238E27FC236}">
                <a16:creationId xmlns:a16="http://schemas.microsoft.com/office/drawing/2014/main" id="{0CD31C98-8DC0-F43B-B755-33DF7A7BCB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08919" y="1109014"/>
            <a:ext cx="5706870" cy="2540566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  <p:sp>
        <p:nvSpPr>
          <p:cNvPr id="22" name="Text Placeholder 22">
            <a:extLst>
              <a:ext uri="{FF2B5EF4-FFF2-40B4-BE49-F238E27FC236}">
                <a16:creationId xmlns:a16="http://schemas.microsoft.com/office/drawing/2014/main" id="{24F1AB87-FA01-239D-A9CB-CF2AB857771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08919" y="3859941"/>
            <a:ext cx="5706870" cy="2540566"/>
          </a:xfrm>
        </p:spPr>
        <p:txBody>
          <a:bodyPr tIns="324000" rIns="324000"/>
          <a:lstStyle/>
          <a:p>
            <a:pPr lvl="4"/>
            <a:r>
              <a:rPr lang="en-CZ" dirty="0"/>
              <a:t>Suspendisse semper lobortis</a:t>
            </a:r>
          </a:p>
          <a:p>
            <a:pPr lvl="4"/>
            <a:r>
              <a:rPr lang="en-CZ" dirty="0"/>
              <a:t>Sed pulvinar sed felis</a:t>
            </a:r>
          </a:p>
          <a:p>
            <a:pPr lvl="4"/>
            <a:r>
              <a:rPr lang="en-CZ" dirty="0"/>
              <a:t>Aliquam vel odio quis dolor</a:t>
            </a:r>
          </a:p>
          <a:p>
            <a:pPr lvl="4"/>
            <a:r>
              <a:rPr lang="en-CZ" dirty="0"/>
              <a:t>in interdum</a:t>
            </a:r>
          </a:p>
        </p:txBody>
      </p:sp>
    </p:spTree>
    <p:extLst>
      <p:ext uri="{BB962C8B-B14F-4D97-AF65-F5344CB8AC3E}">
        <p14:creationId xmlns:p14="http://schemas.microsoft.com/office/powerpoint/2010/main" val="117523696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Tiles–Image+Conten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white rectangular object with black lines&#10;&#10;Description automatically generated">
            <a:extLst>
              <a:ext uri="{FF2B5EF4-FFF2-40B4-BE49-F238E27FC236}">
                <a16:creationId xmlns:a16="http://schemas.microsoft.com/office/drawing/2014/main" id="{38706A17-39D3-579F-A268-DDF2351BC2B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4" name="Text Placeholder 22">
            <a:extLst>
              <a:ext uri="{FF2B5EF4-FFF2-40B4-BE49-F238E27FC236}">
                <a16:creationId xmlns:a16="http://schemas.microsoft.com/office/drawing/2014/main" id="{BDCF88B0-877A-9C10-4ADF-7406A127C72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81297" y="1118813"/>
            <a:ext cx="5706870" cy="2552537"/>
          </a:xfrm>
        </p:spPr>
        <p:txBody>
          <a:bodyPr tIns="324000" rIns="324000"/>
          <a:lstStyle/>
          <a:p>
            <a:pPr lvl="4"/>
            <a:r>
              <a:rPr lang="en-GB" dirty="0">
                <a:effectLst/>
              </a:rPr>
              <a:t>Cras auctor,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</a:t>
            </a:r>
          </a:p>
          <a:p>
            <a:pPr lvl="4"/>
            <a:r>
              <a:rPr lang="en-GB" dirty="0">
                <a:effectLst/>
              </a:rPr>
              <a:t>Vestibulum </a:t>
            </a:r>
            <a:r>
              <a:rPr lang="en-GB" dirty="0" err="1">
                <a:effectLst/>
              </a:rPr>
              <a:t>volutpat</a:t>
            </a:r>
            <a:r>
              <a:rPr lang="en-GB" dirty="0">
                <a:effectLst/>
              </a:rPr>
              <a:t>, ex et </a:t>
            </a:r>
            <a:r>
              <a:rPr lang="en-GB" dirty="0" err="1">
                <a:effectLst/>
              </a:rPr>
              <a:t>placerat</a:t>
            </a:r>
            <a:endParaRPr lang="en-GB" dirty="0">
              <a:effectLst/>
            </a:endParaRPr>
          </a:p>
          <a:p>
            <a:pPr lvl="4"/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sed</a:t>
            </a:r>
            <a:endParaRPr lang="en-CZ" dirty="0"/>
          </a:p>
        </p:txBody>
      </p:sp>
      <p:sp>
        <p:nvSpPr>
          <p:cNvPr id="6" name="Text Placeholder 22">
            <a:extLst>
              <a:ext uri="{FF2B5EF4-FFF2-40B4-BE49-F238E27FC236}">
                <a16:creationId xmlns:a16="http://schemas.microsoft.com/office/drawing/2014/main" id="{6168C927-A516-58D5-D9D5-C6AF72606CA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6213" y="3842084"/>
            <a:ext cx="5711954" cy="2552537"/>
          </a:xfrm>
        </p:spPr>
        <p:txBody>
          <a:bodyPr tIns="324000" rIns="324000"/>
          <a:lstStyle/>
          <a:p>
            <a:pPr lvl="2"/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, lorem at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 dictum.</a:t>
            </a:r>
          </a:p>
          <a:p>
            <a:pPr lvl="2"/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magna. </a:t>
            </a:r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ex.</a:t>
            </a:r>
          </a:p>
          <a:p>
            <a:pPr lvl="2"/>
            <a:r>
              <a:rPr lang="en-GB" dirty="0">
                <a:effectLst/>
              </a:rPr>
              <a:t>Aenean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aliquet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neque</a:t>
            </a:r>
            <a:r>
              <a:rPr lang="en-GB" dirty="0">
                <a:effectLst/>
              </a:rPr>
              <a:t>.</a:t>
            </a:r>
          </a:p>
          <a:p>
            <a:pPr lvl="2"/>
            <a:r>
              <a:rPr lang="en-GB" dirty="0" err="1">
                <a:effectLst/>
              </a:rPr>
              <a:t>Aliquam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.</a:t>
            </a:r>
            <a:endParaRPr lang="en-CZ" dirty="0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E0BA5753-0918-88BD-DB5F-F9594A9668C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5" y="1109013"/>
            <a:ext cx="5715000" cy="5289843"/>
          </a:xfrm>
          <a:prstGeom prst="roundRect">
            <a:avLst>
              <a:gd name="adj" fmla="val 4281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6719831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33" descr="A screenshot of a phone&#10;&#10;Description automatically generated">
            <a:extLst>
              <a:ext uri="{FF2B5EF4-FFF2-40B4-BE49-F238E27FC236}">
                <a16:creationId xmlns:a16="http://schemas.microsoft.com/office/drawing/2014/main" id="{E3FA366D-A4A9-5186-13E0-F1FD15E56C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3EE98F0A-7C09-6202-5C95-4ECACF5E8D0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24696F60-FDED-5098-D9C9-25A4ED2027F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243F70FE-BD6A-5CE8-576B-C81AABE1ED2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15717" y="1114359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ACA7593F-E038-20B6-2AB9-B58ED815867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15717" y="2933142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32" name="Text Placeholder 10">
            <a:extLst>
              <a:ext uri="{FF2B5EF4-FFF2-40B4-BE49-F238E27FC236}">
                <a16:creationId xmlns:a16="http://schemas.microsoft.com/office/drawing/2014/main" id="{36295C81-B298-0EB4-0D95-62112565FCC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315717" y="4762793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448056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A screenshot of a phone&#10;&#10;Description automatically generated">
            <a:extLst>
              <a:ext uri="{FF2B5EF4-FFF2-40B4-BE49-F238E27FC236}">
                <a16:creationId xmlns:a16="http://schemas.microsoft.com/office/drawing/2014/main" id="{0FAA8E98-5D30-9C98-499F-AC0E0F2F47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26058" y="1114359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58032A59-EB50-70C6-5F6F-195B904B8D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5D6DBA9D-8DD9-F1FA-1C30-06FA1E493A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6058" y="2933142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26058" y="4762793"/>
            <a:ext cx="7662106" cy="1628841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0844349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Content+Image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phone&#10;&#10;Description automatically generated">
            <a:extLst>
              <a:ext uri="{FF2B5EF4-FFF2-40B4-BE49-F238E27FC236}">
                <a16:creationId xmlns:a16="http://schemas.microsoft.com/office/drawing/2014/main" id="{CF265211-60D3-3CC3-3366-CCC9925ABF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03835" y="1114360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03835" y="24796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03835" y="38409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6856E1D2-760B-9E51-2AB3-DBA138AB39E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03835" y="52022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libero at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molestie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eleifend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natoque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penatibus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magnis</a:t>
            </a:r>
            <a:r>
              <a:rPr lang="en-GB" dirty="0">
                <a:effectLst/>
              </a:rPr>
              <a:t> dis parturient </a:t>
            </a:r>
            <a:r>
              <a:rPr lang="en-GB" dirty="0" err="1">
                <a:effectLst/>
              </a:rPr>
              <a:t>montes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nascetur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ridiculus</a:t>
            </a:r>
            <a:r>
              <a:rPr lang="en-GB" dirty="0">
                <a:effectLst/>
              </a:rPr>
              <a:t> mus.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a nisi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, auctor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 sit.</a:t>
            </a:r>
          </a:p>
        </p:txBody>
      </p:sp>
      <p:sp>
        <p:nvSpPr>
          <p:cNvPr id="10" name="Picture Placeholder 10">
            <a:extLst>
              <a:ext uri="{FF2B5EF4-FFF2-40B4-BE49-F238E27FC236}">
                <a16:creationId xmlns:a16="http://schemas.microsoft.com/office/drawing/2014/main" id="{805CABB5-85CA-C66D-C0DD-3F700D400716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8118764" y="1102642"/>
            <a:ext cx="3769401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A3DCAE1E-438A-98F1-40FA-EE7CE5FBD56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118764" y="1444238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</p:spTree>
    <p:extLst>
      <p:ext uri="{BB962C8B-B14F-4D97-AF65-F5344CB8AC3E}">
        <p14:creationId xmlns:p14="http://schemas.microsoft.com/office/powerpoint/2010/main" val="33872885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Tiles–Image+Content 2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phone&#10;&#10;Description automatically generated">
            <a:extLst>
              <a:ext uri="{FF2B5EF4-FFF2-40B4-BE49-F238E27FC236}">
                <a16:creationId xmlns:a16="http://schemas.microsoft.com/office/drawing/2014/main" id="{B605E262-C524-50F2-FEED-2ADB5BEB30D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A6C1C72E-382C-D419-FFCF-6342D3151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6200" y="6452217"/>
            <a:ext cx="2743200" cy="365125"/>
          </a:xfrm>
        </p:spPr>
        <p:txBody>
          <a:bodyPr/>
          <a:lstStyle>
            <a:lvl1pPr>
              <a:defRPr sz="1050" b="0" i="0"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pic>
        <p:nvPicPr>
          <p:cNvPr id="9" name="Picture 8" descr="A red square with white and black background&#10;&#10;Description automatically generated">
            <a:extLst>
              <a:ext uri="{FF2B5EF4-FFF2-40B4-BE49-F238E27FC236}">
                <a16:creationId xmlns:a16="http://schemas.microsoft.com/office/drawing/2014/main" id="{E2860D4C-0E72-D495-28A7-98BC00754F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12482" y="6552083"/>
            <a:ext cx="391271" cy="152691"/>
          </a:xfrm>
          <a:prstGeom prst="rect">
            <a:avLst/>
          </a:prstGeo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E7468E2-88C9-A7ED-E38C-92097DE80E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6350"/>
            <a:ext cx="12192000" cy="764381"/>
          </a:xfrm>
        </p:spPr>
        <p:txBody>
          <a:bodyPr lIns="612000" anchor="b">
            <a:normAutofit/>
          </a:bodyPr>
          <a:lstStyle>
            <a:lvl1pPr marL="0" indent="0">
              <a:buNone/>
              <a:defRPr sz="2700" spc="-90" baseline="0"/>
            </a:lvl1pPr>
          </a:lstStyle>
          <a:p>
            <a:pPr lvl="0"/>
            <a:r>
              <a:rPr lang="en-GB" dirty="0"/>
              <a:t>This is the only information you need to know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6C6EC2CD-AB23-97CB-6E7D-DB57282048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777082"/>
            <a:ext cx="12192000" cy="238172"/>
          </a:xfrm>
        </p:spPr>
        <p:txBody>
          <a:bodyPr lIns="612000" anchor="ctr">
            <a:noAutofit/>
          </a:bodyPr>
          <a:lstStyle>
            <a:lvl1pPr marL="0" indent="0">
              <a:buNone/>
              <a:defRPr sz="1800" spc="-6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D8584271-0392-2A71-1110-89DBA3A8C17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9531D3EA-2F99-9F71-020A-FA7859E40FA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226058" y="1114360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Maecenas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ut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tempor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Phasellus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viverra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nunc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quis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accumsan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felis</a:t>
            </a:r>
            <a:r>
              <a:rPr lang="en-GB" dirty="0">
                <a:effectLst/>
              </a:rPr>
              <a:t>. Integer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 dictum </a:t>
            </a:r>
            <a:r>
              <a:rPr lang="en-GB" dirty="0" err="1">
                <a:effectLst/>
              </a:rPr>
              <a:t>arcu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euismod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nisl</a:t>
            </a:r>
            <a:r>
              <a:rPr lang="en-GB" dirty="0">
                <a:effectLst/>
              </a:rPr>
              <a:t>. Donec </a:t>
            </a:r>
            <a:r>
              <a:rPr lang="en-GB" dirty="0" err="1">
                <a:effectLst/>
              </a:rPr>
              <a:t>enim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ultricies</a:t>
            </a:r>
            <a:r>
              <a:rPr lang="en-GB" dirty="0">
                <a:effectLst/>
              </a:rPr>
              <a:t> vitae </a:t>
            </a:r>
            <a:r>
              <a:rPr lang="en-GB" dirty="0" err="1">
                <a:effectLst/>
              </a:rPr>
              <a:t>leo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scelerisque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14" name="Picture Placeholder 10">
            <a:extLst>
              <a:ext uri="{FF2B5EF4-FFF2-40B4-BE49-F238E27FC236}">
                <a16:creationId xmlns:a16="http://schemas.microsoft.com/office/drawing/2014/main" id="{58032A59-EB50-70C6-5F6F-195B904B8D8C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836" y="1102642"/>
            <a:ext cx="3769400" cy="5289843"/>
          </a:xfrm>
          <a:prstGeom prst="roundRect">
            <a:avLst>
              <a:gd name="adj" fmla="val 6575"/>
            </a:avLst>
          </a:prstGeo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>
                <a:solidFill>
                  <a:srgbClr val="909090"/>
                </a:solidFill>
              </a:defRPr>
            </a:lvl1pPr>
          </a:lstStyle>
          <a:p>
            <a:endParaRPr lang="en-CZ" dirty="0"/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5D6DBA9D-8DD9-F1FA-1C30-06FA1E493A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03835" y="1430793"/>
            <a:ext cx="3769401" cy="238172"/>
          </a:xfrm>
        </p:spPr>
        <p:txBody>
          <a:bodyPr lIns="306000" rIns="306000" anchor="ctr">
            <a:noAutofit/>
          </a:bodyPr>
          <a:lstStyle>
            <a:lvl1pPr marL="0" indent="0">
              <a:buNone/>
              <a:defRPr sz="1500" spc="-4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/>
              <a:t>Tile Content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77495D1-2542-4512-45B1-17E019F7CC5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226058" y="24796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tincidunt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Curabitur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facilisis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eget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</a:t>
            </a:r>
            <a:r>
              <a:rPr lang="en-GB" dirty="0">
                <a:effectLst/>
              </a:rPr>
              <a:t> dictum. </a:t>
            </a:r>
            <a:r>
              <a:rPr lang="en-GB" dirty="0" err="1">
                <a:effectLst/>
              </a:rPr>
              <a:t>Interdum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 fames ac ante ipsum </a:t>
            </a:r>
            <a:r>
              <a:rPr lang="en-GB" dirty="0" err="1">
                <a:effectLst/>
              </a:rPr>
              <a:t>primis</a:t>
            </a:r>
            <a:r>
              <a:rPr lang="en-GB" dirty="0">
                <a:effectLst/>
              </a:rPr>
              <a:t> in </a:t>
            </a:r>
            <a:r>
              <a:rPr lang="en-GB" dirty="0" err="1">
                <a:effectLst/>
              </a:rPr>
              <a:t>faucibus</a:t>
            </a:r>
            <a:r>
              <a:rPr lang="en-GB" dirty="0">
                <a:effectLst/>
              </a:rPr>
              <a:t>. Vestibulum in </a:t>
            </a:r>
            <a:r>
              <a:rPr lang="en-GB" dirty="0" err="1">
                <a:effectLst/>
              </a:rPr>
              <a:t>mattis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Nullam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pellentesque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non.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C3E9D361-C73D-5380-B40C-F5636C0FFA3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226058" y="38409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 err="1">
                <a:effectLst/>
              </a:rPr>
              <a:t>Suspendisse</a:t>
            </a:r>
            <a:r>
              <a:rPr lang="en-GB" dirty="0">
                <a:effectLst/>
              </a:rPr>
              <a:t> non </a:t>
            </a:r>
            <a:r>
              <a:rPr lang="en-GB" dirty="0" err="1">
                <a:effectLst/>
              </a:rPr>
              <a:t>urna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sapien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Fusce</a:t>
            </a:r>
            <a:r>
              <a:rPr lang="en-GB" dirty="0">
                <a:effectLst/>
              </a:rPr>
              <a:t> ac </a:t>
            </a:r>
            <a:r>
              <a:rPr lang="en-GB" dirty="0" err="1">
                <a:effectLst/>
              </a:rPr>
              <a:t>porttitor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dolor</a:t>
            </a:r>
            <a:r>
              <a:rPr lang="en-GB" dirty="0">
                <a:effectLst/>
              </a:rPr>
              <a:t>. Nam tempus </a:t>
            </a:r>
            <a:r>
              <a:rPr lang="en-GB" dirty="0" err="1">
                <a:effectLst/>
              </a:rPr>
              <a:t>rhoncus</a:t>
            </a:r>
            <a:r>
              <a:rPr lang="en-GB" dirty="0">
                <a:effectLst/>
              </a:rPr>
              <a:t> porta. Duis </a:t>
            </a:r>
            <a:r>
              <a:rPr lang="en-GB" dirty="0" err="1">
                <a:effectLst/>
              </a:rPr>
              <a:t>ullamcorper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justo</a:t>
            </a:r>
            <a:r>
              <a:rPr lang="en-GB" dirty="0">
                <a:effectLst/>
              </a:rPr>
              <a:t> sit </a:t>
            </a:r>
            <a:r>
              <a:rPr lang="en-GB" dirty="0" err="1">
                <a:effectLst/>
              </a:rPr>
              <a:t>amet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velit</a:t>
            </a:r>
            <a:r>
              <a:rPr lang="en-GB" dirty="0">
                <a:effectLst/>
              </a:rPr>
              <a:t> tempus, </a:t>
            </a:r>
            <a:r>
              <a:rPr lang="en-GB" dirty="0" err="1">
                <a:effectLst/>
              </a:rPr>
              <a:t>nec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congue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nulla</a:t>
            </a:r>
            <a:r>
              <a:rPr lang="en-GB" dirty="0">
                <a:effectLst/>
              </a:rPr>
              <a:t>.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6856E1D2-760B-9E51-2AB3-DBA138AB39E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226058" y="5202262"/>
            <a:ext cx="7662106" cy="1191958"/>
          </a:xfrm>
        </p:spPr>
        <p:txBody>
          <a:bodyPr lIns="306000" tIns="46800" rIns="306000" bIns="46800" anchor="ctr">
            <a:noAutofit/>
          </a:bodyPr>
          <a:lstStyle>
            <a:lvl1pPr marL="0" indent="0">
              <a:lnSpc>
                <a:spcPts val="2120"/>
              </a:lnSpc>
              <a:spcBef>
                <a:spcPts val="400"/>
              </a:spcBef>
              <a:buNone/>
              <a:defRPr sz="1600" spc="-30" baseline="0">
                <a:solidFill>
                  <a:srgbClr val="909090"/>
                </a:solidFill>
              </a:defRPr>
            </a:lvl1pPr>
          </a:lstStyle>
          <a:p>
            <a:pPr lvl="0"/>
            <a:r>
              <a:rPr lang="en-GB" dirty="0">
                <a:effectLst/>
              </a:rPr>
              <a:t>Donec </a:t>
            </a:r>
            <a:r>
              <a:rPr lang="en-GB" dirty="0" err="1">
                <a:effectLst/>
              </a:rPr>
              <a:t>tristique</a:t>
            </a:r>
            <a:r>
              <a:rPr lang="en-GB" dirty="0">
                <a:effectLst/>
              </a:rPr>
              <a:t> libero at </a:t>
            </a:r>
            <a:r>
              <a:rPr lang="en-GB" dirty="0" err="1">
                <a:effectLst/>
              </a:rPr>
              <a:t>elit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molestie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eleifend</a:t>
            </a:r>
            <a:r>
              <a:rPr lang="en-GB" dirty="0">
                <a:effectLst/>
              </a:rPr>
              <a:t>. </a:t>
            </a:r>
            <a:r>
              <a:rPr lang="en-GB" dirty="0" err="1">
                <a:effectLst/>
              </a:rPr>
              <a:t>Orci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varius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natoque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penatibus</a:t>
            </a:r>
            <a:r>
              <a:rPr lang="en-GB" dirty="0">
                <a:effectLst/>
              </a:rPr>
              <a:t> et </a:t>
            </a:r>
            <a:r>
              <a:rPr lang="en-GB" dirty="0" err="1">
                <a:effectLst/>
              </a:rPr>
              <a:t>magnis</a:t>
            </a:r>
            <a:r>
              <a:rPr lang="en-GB" dirty="0">
                <a:effectLst/>
              </a:rPr>
              <a:t> dis parturient </a:t>
            </a:r>
            <a:r>
              <a:rPr lang="en-GB" dirty="0" err="1">
                <a:effectLst/>
              </a:rPr>
              <a:t>montes</a:t>
            </a:r>
            <a:r>
              <a:rPr lang="en-GB" dirty="0">
                <a:effectLst/>
              </a:rPr>
              <a:t>, </a:t>
            </a:r>
            <a:r>
              <a:rPr lang="en-GB" dirty="0" err="1">
                <a:effectLst/>
              </a:rPr>
              <a:t>nascetur</a:t>
            </a:r>
            <a:r>
              <a:rPr lang="en-GB" dirty="0">
                <a:effectLst/>
              </a:rPr>
              <a:t> </a:t>
            </a:r>
            <a:r>
              <a:rPr lang="en-GB" dirty="0" err="1">
                <a:effectLst/>
              </a:rPr>
              <a:t>ridiculus</a:t>
            </a:r>
            <a:r>
              <a:rPr lang="en-GB" dirty="0">
                <a:effectLst/>
              </a:rPr>
              <a:t> mus. </a:t>
            </a:r>
            <a:r>
              <a:rPr lang="en-GB" dirty="0" err="1">
                <a:effectLst/>
              </a:rPr>
              <a:t>Sed</a:t>
            </a:r>
            <a:r>
              <a:rPr lang="en-GB" dirty="0">
                <a:effectLst/>
              </a:rPr>
              <a:t> a nisi </a:t>
            </a:r>
            <a:r>
              <a:rPr lang="en-GB" dirty="0" err="1">
                <a:effectLst/>
              </a:rPr>
              <a:t>malesuada</a:t>
            </a:r>
            <a:r>
              <a:rPr lang="en-GB" dirty="0">
                <a:effectLst/>
              </a:rPr>
              <a:t>, auctor </a:t>
            </a:r>
            <a:r>
              <a:rPr lang="en-GB" dirty="0" err="1">
                <a:effectLst/>
              </a:rPr>
              <a:t>lectus</a:t>
            </a:r>
            <a:r>
              <a:rPr lang="en-GB" dirty="0">
                <a:effectLst/>
              </a:rPr>
              <a:t> sit.</a:t>
            </a:r>
          </a:p>
        </p:txBody>
      </p:sp>
    </p:spTree>
    <p:extLst>
      <p:ext uri="{BB962C8B-B14F-4D97-AF65-F5344CB8AC3E}">
        <p14:creationId xmlns:p14="http://schemas.microsoft.com/office/powerpoint/2010/main" val="264141438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icity logo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square with a white background&#10;&#10;Description automatically generated">
            <a:extLst>
              <a:ext uri="{FF2B5EF4-FFF2-40B4-BE49-F238E27FC236}">
                <a16:creationId xmlns:a16="http://schemas.microsoft.com/office/drawing/2014/main" id="{4F5A1724-BE65-B397-9106-BD6BB83039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5240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mplicity logo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ack and red square with white text&#10;&#10;Description automatically generated">
            <a:extLst>
              <a:ext uri="{FF2B5EF4-FFF2-40B4-BE49-F238E27FC236}">
                <a16:creationId xmlns:a16="http://schemas.microsoft.com/office/drawing/2014/main" id="{E771A05C-2DC1-C320-255C-855C07680F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98795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B logo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red background with white text&#10;&#10;AI-generated content may be incorrect.">
            <a:extLst>
              <a:ext uri="{FF2B5EF4-FFF2-40B4-BE49-F238E27FC236}">
                <a16:creationId xmlns:a16="http://schemas.microsoft.com/office/drawing/2014/main" id="{321B8429-C301-6AEA-B3DE-04B381BF3A6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16005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4C055E-5293-3769-025F-0FEC044E6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4E01CB-62BF-0AF7-3848-F0459ADE2B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751484"/>
            <a:ext cx="10515600" cy="4351338"/>
          </a:xfrm>
          <a:prstGeom prst="rect">
            <a:avLst/>
          </a:prstGeom>
        </p:spPr>
        <p:txBody>
          <a:bodyPr vert="horz" lIns="324000" tIns="45720" rIns="32400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CZ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36F3A-8C20-9D36-7723-BA810354EB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966947" y="644268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 b="0" i="0">
                <a:solidFill>
                  <a:srgbClr val="909090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fld id="{5AF2E7C1-CA82-F241-8934-AACDE30393F4}" type="slidenum">
              <a:rPr lang="en-CZ" smtClean="0"/>
              <a:pPr/>
              <a:t>‹#›</a:t>
            </a:fld>
            <a:endParaRPr lang="en-CZ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6D03E34F-0A3A-005A-A05A-9369A53D32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4268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 b="0" i="0">
                <a:solidFill>
                  <a:srgbClr val="ADADAD"/>
                </a:solidFill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</a:lstStyle>
          <a:p>
            <a:r>
              <a:rPr lang="en-GB" dirty="0"/>
              <a:t>PPT Template 2.0</a:t>
            </a:r>
            <a:endParaRPr lang="en-CZ" dirty="0"/>
          </a:p>
        </p:txBody>
      </p:sp>
    </p:spTree>
    <p:extLst>
      <p:ext uri="{BB962C8B-B14F-4D97-AF65-F5344CB8AC3E}">
        <p14:creationId xmlns:p14="http://schemas.microsoft.com/office/powerpoint/2010/main" val="134861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49" r:id="rId8"/>
    <p:sldLayoutId id="2147483667" r:id="rId9"/>
    <p:sldLayoutId id="2147483668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90" r:id="rId3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1pPr>
      <a:lvl2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2pPr>
      <a:lvl3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3pPr>
      <a:lvl4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4pPr>
      <a:lvl5pPr marL="266400" indent="-252000" algn="l" defTabSz="914400" rtl="0" eaLnBrk="1" latinLnBrk="0" hangingPunct="1">
        <a:lnSpc>
          <a:spcPct val="100000"/>
        </a:lnSpc>
        <a:spcBef>
          <a:spcPts val="900"/>
        </a:spcBef>
        <a:buSzPct val="100000"/>
        <a:buFontTx/>
        <a:buBlip>
          <a:blip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</a:buBlip>
        <a:defRPr sz="1800" b="1" i="0" kern="1200" spc="-40" baseline="0">
          <a:solidFill>
            <a:schemeClr val="tx1"/>
          </a:solidFill>
          <a:latin typeface="Source Sans Pro SemiBold" panose="020B0503030403020204" pitchFamily="34" charset="0"/>
          <a:ea typeface="Source Sans Pro SemiBold" panose="020B050303040302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.kb.cz/projects/ODP/repos/ingestion/browse/minifi/templates/flow-jdbc-to-s3-parquet.json.raw.template" TargetMode="Externa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.kb.cz/spaces/ODP/pages/1539252271/MiNiFi+k8s+DRAFT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airflow-dev.kb.cz/dags/k8s_pod_demo_pje" TargetMode="Externa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lvl="0"/>
            <a:r>
              <a:rPr lang="en-GB" dirty="0"/>
              <a:t>Ingest Tool for DataMesh</a:t>
            </a:r>
          </a:p>
        </p:txBody>
      </p:sp>
      <p:sp>
        <p:nvSpPr>
          <p:cNvPr id="3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Recommended Architecture</a:t>
            </a:r>
          </a:p>
        </p:txBody>
      </p:sp>
    </p:spTree>
    <p:extLst>
      <p:ext uri="{BB962C8B-B14F-4D97-AF65-F5344CB8AC3E}">
        <p14:creationId xmlns:p14="http://schemas.microsoft.com/office/powerpoint/2010/main" val="1100000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Recap of Previous Proposals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Starting point before the current evaluation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The previous evaluation round for the DAKVI squad covered AirPy, NiFi and Inf</a:t>
            </a:r>
            <a:r>
              <a:rPr lang="cs-CZ" dirty="0" err="1"/>
              <a:t>ormatica</a:t>
            </a:r>
            <a:r>
              <a:rPr lang="en-GB" dirty="0"/>
              <a:t>; AirPy was recommended f</a:t>
            </a:r>
            <a:r>
              <a:rPr lang="cs-CZ" dirty="0" err="1"/>
              <a:t>rom</a:t>
            </a:r>
            <a:r>
              <a:rPr lang="en-GB" dirty="0"/>
              <a:t> the squad</a:t>
            </a:r>
            <a:r>
              <a:rPr lang="cs-CZ" dirty="0"/>
              <a:t> DAKVI</a:t>
            </a:r>
            <a:endParaRPr lang="en-GB" dirty="0"/>
          </a:p>
          <a:p>
            <a:pPr lvl="4"/>
            <a:r>
              <a:rPr lang="en-GB" dirty="0"/>
              <a:t>The B2 — Template Library concept was subsequently approved at ODP SRF</a:t>
            </a:r>
          </a:p>
          <a:p>
            <a:pPr lvl="4"/>
            <a:r>
              <a:rPr lang="en-GB" dirty="0"/>
              <a:t>Based on a proposal from the vendor (BigHub), the Meltano alternative was added to the evaluation, followed by MiNiFi</a:t>
            </a:r>
          </a:p>
          <a:p>
            <a:pPr lvl="4"/>
            <a:r>
              <a:rPr lang="en-GB" dirty="0"/>
              <a:t>Both alternatives were verified through a smaller-scale Proof of Concept</a:t>
            </a:r>
          </a:p>
        </p:txBody>
      </p:sp>
      <p:pic>
        <p:nvPicPr>
          <p:cNvPr id="7" name="Obrázek 6" descr="GitHub - meltano/meltano: Meltano: the declarative code-first data  integration engine that powers your wildest data and ML-powered product  ideas. Say goodbye to writing, maintaining, and scaling your own API  integrations. · GitHub">
            <a:extLst>
              <a:ext uri="{FF2B5EF4-FFF2-40B4-BE49-F238E27FC236}">
                <a16:creationId xmlns:a16="http://schemas.microsoft.com/office/drawing/2014/main" id="{B5B38829-DF79-F954-5CD6-0CA57ECFF4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433" y="2751293"/>
            <a:ext cx="1813534" cy="1813534"/>
          </a:xfrm>
          <a:prstGeom prst="rect">
            <a:avLst/>
          </a:prstGeom>
        </p:spPr>
      </p:pic>
      <p:pic>
        <p:nvPicPr>
          <p:cNvPr id="8" name="Obrázek 7" descr="Apache Airflow: A Complete Guide. Apache Airflow is a powerful… | by  RADOUANE ELMAHFOUD | Medium">
            <a:extLst>
              <a:ext uri="{FF2B5EF4-FFF2-40B4-BE49-F238E27FC236}">
                <a16:creationId xmlns:a16="http://schemas.microsoft.com/office/drawing/2014/main" id="{038D62E5-49C6-244D-5E5E-5B4AFF40B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6042" y="1363382"/>
            <a:ext cx="2051706" cy="1068353"/>
          </a:xfrm>
          <a:prstGeom prst="rect">
            <a:avLst/>
          </a:prstGeom>
        </p:spPr>
      </p:pic>
      <p:pic>
        <p:nvPicPr>
          <p:cNvPr id="9" name="Picture Placeholder" descr="Apache MiNiFi logo">
            <a:extLst>
              <a:ext uri="{FF2B5EF4-FFF2-40B4-BE49-F238E27FC236}">
                <a16:creationId xmlns:a16="http://schemas.microsoft.com/office/drawing/2014/main" id="{73C697F8-3A65-0FC3-9086-C7D748392D8A}"/>
              </a:ext>
            </a:extLst>
          </p:cNvPr>
          <p:cNvPicPr>
            <a:picLocks noGrp="1" noChangeAspect="1"/>
          </p:cNvPicPr>
          <p:nvPr>
            <p:ph type="pic" sz="quarter" idx="20"/>
          </p:nvPr>
        </p:nvPicPr>
        <p:blipFill>
          <a:blip r:embed="rId4"/>
          <a:stretch>
            <a:fillRect/>
          </a:stretch>
        </p:blipFill>
        <p:spPr>
          <a:xfrm>
            <a:off x="8987148" y="4541961"/>
            <a:ext cx="2722252" cy="1491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0001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Architecture Independent of the Tool Choice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Versioned Template Library principle (variant B2)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The chosen architectural model remains valid regardless of the outcome of the tool evaluation</a:t>
            </a:r>
          </a:p>
          <a:p>
            <a:pPr lvl="4"/>
            <a:r>
              <a:rPr lang="en-GB" dirty="0"/>
              <a:t>The business squad deploys a versioned copy of the template and its own configuration in its own Git repository</a:t>
            </a:r>
          </a:p>
          <a:p>
            <a:pPr lvl="4"/>
            <a:r>
              <a:rPr lang="en-GB" dirty="0"/>
              <a:t>The business squad is responsible for deployment, operation, and upgrade decisions</a:t>
            </a:r>
          </a:p>
          <a:p>
            <a:pPr lvl="4"/>
            <a:r>
              <a:rPr lang="en-GB" dirty="0"/>
              <a:t>The configuration components remain unchanged: Object Schema, Export Configuration, Run Conditions</a:t>
            </a:r>
          </a:p>
          <a:p>
            <a:pPr lvl="4"/>
            <a:r>
              <a:rPr lang="en-GB" dirty="0"/>
              <a:t>The choice of the specific tool (AirPy, MiNiFi) affects only the implementation, not how business squads use this architecture</a:t>
            </a:r>
          </a:p>
        </p:txBody>
      </p:sp>
      <p:pic>
        <p:nvPicPr>
          <p:cNvPr id="8" name="Obrázek 7">
            <a:extLst>
              <a:ext uri="{FF2B5EF4-FFF2-40B4-BE49-F238E27FC236}">
                <a16:creationId xmlns:a16="http://schemas.microsoft.com/office/drawing/2014/main" id="{F1FCFC94-EEF4-1BE9-9253-3EDB49629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784" y="1541644"/>
            <a:ext cx="5280616" cy="4365110"/>
          </a:xfrm>
          <a:prstGeom prst="rect">
            <a:avLst/>
          </a:prstGeom>
        </p:spPr>
      </p:pic>
      <p:sp>
        <p:nvSpPr>
          <p:cNvPr id="10" name="TextovéPole 9">
            <a:extLst>
              <a:ext uri="{FF2B5EF4-FFF2-40B4-BE49-F238E27FC236}">
                <a16:creationId xmlns:a16="http://schemas.microsoft.com/office/drawing/2014/main" id="{32C4E4CD-A372-04D5-200F-7089994775B0}"/>
              </a:ext>
            </a:extLst>
          </p:cNvPr>
          <p:cNvSpPr txBox="1"/>
          <p:nvPr/>
        </p:nvSpPr>
        <p:spPr>
          <a:xfrm>
            <a:off x="6336028" y="1297121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spcBef>
                <a:spcPts val="2250"/>
              </a:spcBef>
              <a:buNone/>
            </a:pPr>
            <a:r>
              <a:rPr lang="cs-CZ" sz="1200" b="1" i="0" dirty="0">
                <a:solidFill>
                  <a:srgbClr val="172B4D"/>
                </a:solidFill>
                <a:effectLst/>
                <a:latin typeface="-apple-system"/>
              </a:rPr>
              <a:t>B2)  </a:t>
            </a:r>
            <a:r>
              <a:rPr lang="cs-CZ" sz="1200" b="1" i="0" dirty="0" err="1">
                <a:solidFill>
                  <a:srgbClr val="172B4D"/>
                </a:solidFill>
                <a:effectLst/>
                <a:latin typeface="-apple-system"/>
              </a:rPr>
              <a:t>Versioned</a:t>
            </a:r>
            <a:r>
              <a:rPr lang="cs-CZ" sz="1200" b="1" i="0" dirty="0">
                <a:solidFill>
                  <a:srgbClr val="172B4D"/>
                </a:solidFill>
                <a:effectLst/>
                <a:latin typeface="-apple-system"/>
              </a:rPr>
              <a:t> </a:t>
            </a:r>
            <a:r>
              <a:rPr lang="cs-CZ" sz="1200" b="1" i="0" dirty="0" err="1">
                <a:solidFill>
                  <a:srgbClr val="172B4D"/>
                </a:solidFill>
                <a:effectLst/>
                <a:latin typeface="-apple-system"/>
              </a:rPr>
              <a:t>Template</a:t>
            </a:r>
            <a:r>
              <a:rPr lang="cs-CZ" sz="1200" b="1" i="0" dirty="0">
                <a:solidFill>
                  <a:srgbClr val="172B4D"/>
                </a:solidFill>
                <a:effectLst/>
                <a:latin typeface="-apple-system"/>
              </a:rPr>
              <a:t> </a:t>
            </a:r>
            <a:r>
              <a:rPr lang="cs-CZ" sz="1200" b="1" i="0" dirty="0" err="1">
                <a:solidFill>
                  <a:srgbClr val="172B4D"/>
                </a:solidFill>
                <a:effectLst/>
                <a:latin typeface="-apple-system"/>
              </a:rPr>
              <a:t>Library</a:t>
            </a:r>
            <a:endParaRPr lang="cs-CZ" sz="1200" b="1" i="0" dirty="0">
              <a:solidFill>
                <a:srgbClr val="172B4D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100000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Rejection of the Meltano Alternative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Proof of Concept results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92500" lnSpcReduction="10000"/>
          </a:bodyPr>
          <a:lstStyle/>
          <a:p>
            <a:pPr lvl="4"/>
            <a:r>
              <a:rPr lang="en-GB" dirty="0"/>
              <a:t>Exporting 80 million records took approximately 4 hours with Meltano</a:t>
            </a:r>
          </a:p>
          <a:p>
            <a:pPr lvl="4"/>
            <a:r>
              <a:rPr lang="en-GB" dirty="0"/>
              <a:t>The other evaluated alternatives achieved significantly shorter times: AirPy 5 minutes, Informatica 8 minutes, Apache NiFi 15 minutes</a:t>
            </a:r>
          </a:p>
          <a:p>
            <a:pPr lvl="4"/>
            <a:r>
              <a:rPr lang="en-US" dirty="0"/>
              <a:t>Singer specification contributes to the slowdown: for large data volumes, it relies on batch processing, writing data to intermediate storage before loading it into the target</a:t>
            </a:r>
            <a:endParaRPr lang="en-GB" dirty="0"/>
          </a:p>
          <a:p>
            <a:pPr lvl="4"/>
            <a:r>
              <a:rPr lang="en-GB" dirty="0"/>
              <a:t>This could likely be optimized, but we decided not to pursue it further — it would require flow-specific optimization with an uncertain outcome</a:t>
            </a:r>
          </a:p>
          <a:p>
            <a:pPr lvl="4"/>
            <a:r>
              <a:rPr lang="en-GB" dirty="0"/>
              <a:t>Meltano can also only load data into Teradata — a connector for exporting data from Teradata does not exist for this tool</a:t>
            </a:r>
          </a:p>
          <a:p>
            <a:pPr lvl="4"/>
            <a:r>
              <a:rPr lang="en-GB" dirty="0"/>
              <a:t>Based on these results, the Meltano alternative was rejected from further evaluation</a:t>
            </a:r>
          </a:p>
        </p:txBody>
      </p:sp>
      <p:graphicFrame>
        <p:nvGraphicFramePr>
          <p:cNvPr id="7" name="Tabulka 6">
            <a:extLst>
              <a:ext uri="{FF2B5EF4-FFF2-40B4-BE49-F238E27FC236}">
                <a16:creationId xmlns:a16="http://schemas.microsoft.com/office/drawing/2014/main" id="{404D106F-B0BC-D0E0-E962-E31D9E9B0D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996037"/>
              </p:ext>
            </p:extLst>
          </p:nvPr>
        </p:nvGraphicFramePr>
        <p:xfrm>
          <a:off x="7234235" y="1949756"/>
          <a:ext cx="3463930" cy="383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1965">
                  <a:extLst>
                    <a:ext uri="{9D8B030D-6E8A-4147-A177-3AD203B41FA5}">
                      <a16:colId xmlns:a16="http://schemas.microsoft.com/office/drawing/2014/main" val="767678724"/>
                    </a:ext>
                  </a:extLst>
                </a:gridCol>
                <a:gridCol w="1731965">
                  <a:extLst>
                    <a:ext uri="{9D8B030D-6E8A-4147-A177-3AD203B41FA5}">
                      <a16:colId xmlns:a16="http://schemas.microsoft.com/office/drawing/2014/main" val="2895520159"/>
                    </a:ext>
                  </a:extLst>
                </a:gridCol>
              </a:tblGrid>
              <a:tr h="767344">
                <a:tc>
                  <a:txBody>
                    <a:bodyPr/>
                    <a:lstStyle/>
                    <a:p>
                      <a:r>
                        <a:rPr lang="cs-CZ" dirty="0" err="1"/>
                        <a:t>Tool</a:t>
                      </a:r>
                      <a:endParaRPr lang="cs-C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POC Time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4541058"/>
                  </a:ext>
                </a:extLst>
              </a:tr>
              <a:tr h="767344">
                <a:tc>
                  <a:txBody>
                    <a:bodyPr/>
                    <a:lstStyle/>
                    <a:p>
                      <a:r>
                        <a:rPr lang="cs-CZ" dirty="0" err="1"/>
                        <a:t>AirPy</a:t>
                      </a:r>
                      <a:endParaRPr lang="cs-C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5 min.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728539"/>
                  </a:ext>
                </a:extLst>
              </a:tr>
              <a:tr h="767344">
                <a:tc>
                  <a:txBody>
                    <a:bodyPr/>
                    <a:lstStyle/>
                    <a:p>
                      <a:r>
                        <a:rPr lang="cs-CZ" dirty="0" err="1"/>
                        <a:t>Infa</a:t>
                      </a:r>
                      <a:endParaRPr lang="cs-C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8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8718619"/>
                  </a:ext>
                </a:extLst>
              </a:tr>
              <a:tr h="767344">
                <a:tc>
                  <a:txBody>
                    <a:bodyPr/>
                    <a:lstStyle/>
                    <a:p>
                      <a:r>
                        <a:rPr lang="cs-CZ" dirty="0"/>
                        <a:t>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919706"/>
                  </a:ext>
                </a:extLst>
              </a:tr>
              <a:tr h="767344">
                <a:tc>
                  <a:txBody>
                    <a:bodyPr/>
                    <a:lstStyle/>
                    <a:p>
                      <a:r>
                        <a:rPr lang="cs-CZ" dirty="0" err="1"/>
                        <a:t>Meltano</a:t>
                      </a:r>
                      <a:endParaRPr lang="cs-CZ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dirty="0"/>
                        <a:t>4 </a:t>
                      </a:r>
                      <a:r>
                        <a:rPr lang="cs-CZ" dirty="0" err="1"/>
                        <a:t>hours</a:t>
                      </a:r>
                      <a:endParaRPr lang="cs-CZ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7508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00001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What is MiNiFi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A lightweight agent built on the Apache NiFi platform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The tool exists in two variants: a Java agent and a C++ agent</a:t>
            </a:r>
          </a:p>
          <a:p>
            <a:pPr lvl="4"/>
            <a:r>
              <a:rPr lang="en-GB" dirty="0"/>
              <a:t>The proposed solution uses the Java agent — the C++ variant has no Parquet writer, which is a hard requirement</a:t>
            </a:r>
          </a:p>
          <a:p>
            <a:pPr lvl="4"/>
            <a:r>
              <a:rPr lang="en-GB" dirty="0"/>
              <a:t>Included in every NiFi release since version 2.0</a:t>
            </a:r>
          </a:p>
          <a:p>
            <a:pPr lvl="4"/>
            <a:r>
              <a:rPr lang="en-GB" dirty="0"/>
              <a:t>Uses the same processors as NiFi — identical functional scope</a:t>
            </a:r>
          </a:p>
          <a:p>
            <a:pPr lvl="4"/>
            <a:r>
              <a:rPr lang="en-GB" dirty="0"/>
              <a:t>No web user interface — the flow definition is stored as a file in Git</a:t>
            </a:r>
          </a:p>
        </p:txBody>
      </p:sp>
      <p:pic>
        <p:nvPicPr>
          <p:cNvPr id="7" name="Picture Placeholder" descr="Apache MiNiFi logo"/>
          <p:cNvPicPr>
            <a:picLocks noGrp="1" noChangeAspect="1"/>
          </p:cNvPicPr>
          <p:nvPr>
            <p:ph type="pic" sz="quarter" idx="20"/>
          </p:nvPr>
        </p:nvPicPr>
        <p:blipFill>
          <a:blip r:embed="rId2"/>
          <a:stretch>
            <a:fillRect/>
          </a:stretch>
        </p:blipFill>
        <p:spPr>
          <a:xfrm>
            <a:off x="6830000" y="2548000"/>
            <a:ext cx="4400000" cy="241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0000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6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Why MiNiFi Fits Our Case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Using ready-made components instead of custom development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Tile1 Body idx16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4"/>
            <a:r>
              <a:rPr lang="en-GB" dirty="0"/>
              <a:t>Oracle, MS SQL Server, PostgreSQL via JDBC</a:t>
            </a:r>
          </a:p>
          <a:p>
            <a:pPr lvl="4"/>
            <a:r>
              <a:rPr lang="en-GB" dirty="0"/>
              <a:t>Incremental extraction support</a:t>
            </a:r>
            <a:r>
              <a:rPr lang="cs-CZ" dirty="0"/>
              <a:t> </a:t>
            </a:r>
            <a:r>
              <a:rPr lang="cs-CZ" dirty="0" err="1"/>
              <a:t>through</a:t>
            </a:r>
            <a:r>
              <a:rPr lang="cs-CZ" dirty="0"/>
              <a:t> </a:t>
            </a:r>
            <a:r>
              <a:rPr lang="cs-CZ" dirty="0" err="1"/>
              <a:t>Configuration</a:t>
            </a:r>
            <a:endParaRPr lang="en-GB" dirty="0"/>
          </a:p>
        </p:txBody>
      </p:sp>
      <p:sp>
        <p:nvSpPr>
          <p:cNvPr id="7" name="Tile3 Body idx17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 lvl="2"/>
            <a:r>
              <a:rPr lang="en-GB" dirty="0"/>
              <a:t>Built-in support for reading and writing Parquet</a:t>
            </a:r>
          </a:p>
          <a:p>
            <a:pPr lvl="2"/>
            <a:r>
              <a:rPr lang="en-GB" dirty="0"/>
              <a:t>Direct access to S3 storage</a:t>
            </a:r>
          </a:p>
        </p:txBody>
      </p:sp>
      <p:sp>
        <p:nvSpPr>
          <p:cNvPr id="8" name="Tile1 Header idx18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/>
            <a:r>
              <a:rPr lang="en-GB" dirty="0"/>
              <a:t>Databases</a:t>
            </a:r>
          </a:p>
        </p:txBody>
      </p:sp>
      <p:sp>
        <p:nvSpPr>
          <p:cNvPr id="9" name="Tile3 Header idx19"/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 lvl="0"/>
            <a:r>
              <a:rPr lang="en-GB" dirty="0"/>
              <a:t>Parquet and S3</a:t>
            </a:r>
          </a:p>
        </p:txBody>
      </p:sp>
      <p:sp>
        <p:nvSpPr>
          <p:cNvPr id="10" name="Tile2 Body idx20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4"/>
            <a:r>
              <a:rPr lang="en-GB" dirty="0"/>
              <a:t>Native processors for both technologies</a:t>
            </a:r>
          </a:p>
          <a:p>
            <a:pPr lvl="4"/>
            <a:r>
              <a:rPr lang="en-GB" dirty="0"/>
              <a:t>One tool instead of combining AirPy and NiFi</a:t>
            </a:r>
          </a:p>
        </p:txBody>
      </p:sp>
      <p:sp>
        <p:nvSpPr>
          <p:cNvPr id="11" name="Tile4 Body idx21"/>
          <p:cNvSpPr>
            <a:spLocks noGrp="1"/>
          </p:cNvSpPr>
          <p:nvPr>
            <p:ph type="body" sz="quarter" idx="21"/>
          </p:nvPr>
        </p:nvSpPr>
        <p:spPr/>
        <p:txBody>
          <a:bodyPr>
            <a:normAutofit lnSpcReduction="10000"/>
          </a:bodyPr>
          <a:lstStyle/>
          <a:p>
            <a:pPr lvl="2"/>
            <a:r>
              <a:rPr lang="en-GB" dirty="0"/>
              <a:t>The flow definition is a file, not just a UI-only configuration</a:t>
            </a:r>
          </a:p>
          <a:p>
            <a:pPr lvl="2"/>
            <a:r>
              <a:rPr lang="en-GB" dirty="0"/>
              <a:t>Versioned in Git, reviewed via pull requests</a:t>
            </a:r>
            <a:endParaRPr lang="cs-CZ" dirty="0"/>
          </a:p>
          <a:p>
            <a:pPr lvl="2"/>
            <a:r>
              <a:rPr lang="en-GB" dirty="0">
                <a:hlinkClick r:id="rId2"/>
              </a:rPr>
              <a:t>https://git.kb.cz/projects/ODP/repos/ingestion/browse/minifi/templates/flow-jdbc-to-s3-parquet.json.raw.template</a:t>
            </a:r>
            <a:endParaRPr lang="en-GB" dirty="0"/>
          </a:p>
        </p:txBody>
      </p:sp>
      <p:sp>
        <p:nvSpPr>
          <p:cNvPr id="12" name="Tile4 Header idx22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lvl="0"/>
            <a:r>
              <a:rPr lang="en-GB" dirty="0"/>
              <a:t>Flow as Code</a:t>
            </a:r>
          </a:p>
        </p:txBody>
      </p:sp>
      <p:sp>
        <p:nvSpPr>
          <p:cNvPr id="13" name="Tile2 Header idx23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lvl="0"/>
            <a:r>
              <a:rPr lang="en-GB" dirty="0"/>
              <a:t>Kafka and Elasticsearch</a:t>
            </a:r>
          </a:p>
        </p:txBody>
      </p:sp>
    </p:spTree>
    <p:extLst>
      <p:ext uri="{BB962C8B-B14F-4D97-AF65-F5344CB8AC3E}">
        <p14:creationId xmlns:p14="http://schemas.microsoft.com/office/powerpoint/2010/main" val="11000000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7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NiFi vs. MiNiFi Comparison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Source of the improved score and its cause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graphicFrame>
        <p:nvGraphicFramePr>
          <p:cNvPr id="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58180"/>
              </p:ext>
            </p:extLst>
          </p:nvPr>
        </p:nvGraphicFramePr>
        <p:xfrm>
          <a:off x="359557" y="1212303"/>
          <a:ext cx="11410000" cy="337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00">
                <a:tc>
                  <a:txBody>
                    <a:bodyPr/>
                    <a:lstStyle/>
                    <a:p>
                      <a:r>
                        <a:rPr lang="en-GB" sz="1200" b="1" dirty="0"/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MiNiFi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b="1" dirty="0"/>
                        <a:t>Difference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YAML configuration consistency in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Git support in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Alignment with target cloud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3 (in K8s)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Reuse potential in other entities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 (DI?)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 (DI)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Horizontal scalability (cross-load)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1 (with K8s)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Ease of environment promotion in CI/CD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Airflow SOGE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CyberArk / Vault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r>
                        <a:rPr lang="en-GB" sz="1100" dirty="0"/>
                        <a:t>Squad autonomy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100" b="1" dirty="0"/>
                        <a:t>-2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graphicFrame>
        <p:nvGraphicFramePr>
          <p:cNvPr id="9" name="Tabulka 8">
            <a:extLst>
              <a:ext uri="{FF2B5EF4-FFF2-40B4-BE49-F238E27FC236}">
                <a16:creationId xmlns:a16="http://schemas.microsoft.com/office/drawing/2014/main" id="{D4186184-C4D4-466B-4617-FC516FD581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14465"/>
              </p:ext>
            </p:extLst>
          </p:nvPr>
        </p:nvGraphicFramePr>
        <p:xfrm>
          <a:off x="391000" y="5086290"/>
          <a:ext cx="11410000" cy="9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0000">
                  <a:extLst>
                    <a:ext uri="{9D8B030D-6E8A-4147-A177-3AD203B41FA5}">
                      <a16:colId xmlns:a16="http://schemas.microsoft.com/office/drawing/2014/main" val="1998996038"/>
                    </a:ext>
                  </a:extLst>
                </a:gridCol>
                <a:gridCol w="2002500">
                  <a:extLst>
                    <a:ext uri="{9D8B030D-6E8A-4147-A177-3AD203B41FA5}">
                      <a16:colId xmlns:a16="http://schemas.microsoft.com/office/drawing/2014/main" val="1555601505"/>
                    </a:ext>
                  </a:extLst>
                </a:gridCol>
                <a:gridCol w="2002500">
                  <a:extLst>
                    <a:ext uri="{9D8B030D-6E8A-4147-A177-3AD203B41FA5}">
                      <a16:colId xmlns:a16="http://schemas.microsoft.com/office/drawing/2014/main" val="814687421"/>
                    </a:ext>
                  </a:extLst>
                </a:gridCol>
                <a:gridCol w="2002500">
                  <a:extLst>
                    <a:ext uri="{9D8B030D-6E8A-4147-A177-3AD203B41FA5}">
                      <a16:colId xmlns:a16="http://schemas.microsoft.com/office/drawing/2014/main" val="3669385599"/>
                    </a:ext>
                  </a:extLst>
                </a:gridCol>
                <a:gridCol w="2002500">
                  <a:extLst>
                    <a:ext uri="{9D8B030D-6E8A-4147-A177-3AD203B41FA5}">
                      <a16:colId xmlns:a16="http://schemas.microsoft.com/office/drawing/2014/main" val="1178793350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endParaRPr lang="en-GB" sz="13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AirPy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Informatica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NiFi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300" b="1" dirty="0"/>
                        <a:t>MiNiFi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0132267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r>
                        <a:rPr lang="en-GB" sz="1200" dirty="0"/>
                        <a:t>Export of 80 million records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5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8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200" dirty="0"/>
                        <a:t>15 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s-CZ" sz="1200" dirty="0"/>
                        <a:t>9</a:t>
                      </a:r>
                      <a:r>
                        <a:rPr lang="en-GB" sz="1200" dirty="0"/>
                        <a:t> minutes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09677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0000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58098-C6BB-5440-CE6F-0F3E54A8E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377F382-3891-E901-A2E6-B91B517A6A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8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5A95CD-EB2D-9D29-DBFA-90570B84A60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Airflow + K8S + </a:t>
            </a:r>
            <a:r>
              <a:rPr lang="en-US" dirty="0" err="1"/>
              <a:t>MiNiFi</a:t>
            </a:r>
            <a:r>
              <a:rPr lang="en-US" dirty="0"/>
              <a:t> architecture</a:t>
            </a:r>
            <a:endParaRPr lang="en-CZ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E3E348-413F-049F-7911-F291C7A1AFA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pic>
        <p:nvPicPr>
          <p:cNvPr id="7" name="Obrázek 6">
            <a:extLst>
              <a:ext uri="{FF2B5EF4-FFF2-40B4-BE49-F238E27FC236}">
                <a16:creationId xmlns:a16="http://schemas.microsoft.com/office/drawing/2014/main" id="{4C4FE0FF-D75C-2DA4-2120-61D2DF077D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412" y="802222"/>
            <a:ext cx="9174980" cy="5253555"/>
          </a:xfrm>
          <a:prstGeom prst="rect">
            <a:avLst/>
          </a:prstGeom>
        </p:spPr>
      </p:pic>
      <p:sp>
        <p:nvSpPr>
          <p:cNvPr id="9" name="TextovéPole 8">
            <a:extLst>
              <a:ext uri="{FF2B5EF4-FFF2-40B4-BE49-F238E27FC236}">
                <a16:creationId xmlns:a16="http://schemas.microsoft.com/office/drawing/2014/main" id="{ADDAA267-5113-19FD-CFB2-29A0ECEF954C}"/>
              </a:ext>
            </a:extLst>
          </p:cNvPr>
          <p:cNvSpPr txBox="1"/>
          <p:nvPr/>
        </p:nvSpPr>
        <p:spPr>
          <a:xfrm>
            <a:off x="1075004" y="6023820"/>
            <a:ext cx="7848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cs-CZ" sz="1600" dirty="0">
                <a:hlinkClick r:id="rId3"/>
              </a:rPr>
              <a:t>https://wiki.kb.cz/spaces/ODP/pages/1539252271/MiNiFi+k8s+DRAFT</a:t>
            </a:r>
            <a:endParaRPr lang="cs-CZ" sz="1600" dirty="0"/>
          </a:p>
        </p:txBody>
      </p:sp>
    </p:spTree>
    <p:extLst>
      <p:ext uri="{BB962C8B-B14F-4D97-AF65-F5344CB8AC3E}">
        <p14:creationId xmlns:p14="http://schemas.microsoft.com/office/powerpoint/2010/main" val="1625574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GB" smtClean="0"/>
              <a:pPr/>
              <a:t>9</a:t>
            </a:fld>
            <a:endParaRPr lang="en-GB" dirty="0"/>
          </a:p>
        </p:txBody>
      </p:sp>
      <p:sp>
        <p:nvSpPr>
          <p:cNvPr id="3" name="Title Placeholder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0"/>
            <a:r>
              <a:rPr lang="en-GB" dirty="0"/>
              <a:t>Airflow to Kubernetes via REST API</a:t>
            </a:r>
          </a:p>
        </p:txBody>
      </p:sp>
      <p:sp>
        <p:nvSpPr>
          <p:cNvPr id="4" name="Subtitle Placeholder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GB" dirty="0"/>
              <a:t>A standard, reusable integration pattern</a:t>
            </a:r>
          </a:p>
        </p:txBody>
      </p:sp>
      <p:sp>
        <p:nvSpPr>
          <p:cNvPr id="5" name="Footer Placeholder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GB" dirty="0"/>
          </a:p>
        </p:txBody>
      </p:sp>
      <p:sp>
        <p:nvSpPr>
          <p:cNvPr id="6" name="Body Left Placeholder"/>
          <p:cNvSpPr>
            <a:spLocks noGrp="1"/>
          </p:cNvSpPr>
          <p:nvPr>
            <p:ph type="body" sz="quarter" idx="16"/>
          </p:nvPr>
        </p:nvSpPr>
        <p:spPr/>
        <p:txBody>
          <a:bodyPr>
            <a:normAutofit/>
          </a:bodyPr>
          <a:lstStyle/>
          <a:p>
            <a:pPr lvl="4"/>
            <a:r>
              <a:rPr lang="en-GB" dirty="0"/>
              <a:t>Airflow’s KubernetesPodOperator communicates with the Kubernetes API server using a standard REST API</a:t>
            </a:r>
          </a:p>
          <a:p>
            <a:pPr lvl="4"/>
            <a:r>
              <a:rPr lang="en-GB" dirty="0"/>
              <a:t>The connection between SOGE Airflow and Kubernetes in the KB environment is implemented purely as HTTPS REST calls, with no special protocol required</a:t>
            </a:r>
          </a:p>
          <a:p>
            <a:pPr lvl="4"/>
            <a:r>
              <a:rPr lang="en-GB" dirty="0"/>
              <a:t>HTTPS REST API should already be permitted on the network pass-throughs between SOGE and KB</a:t>
            </a:r>
          </a:p>
          <a:p>
            <a:pPr lvl="4"/>
            <a:r>
              <a:rPr lang="en-GB" dirty="0"/>
              <a:t>Security is generally favorable toward REST API</a:t>
            </a:r>
          </a:p>
          <a:p>
            <a:pPr lvl="4"/>
            <a:r>
              <a:rPr lang="en-GB" dirty="0"/>
              <a:t>This could become a general pattern for connecting SOGE Airflow with the KB environment</a:t>
            </a:r>
          </a:p>
        </p:txBody>
      </p:sp>
      <p:sp>
        <p:nvSpPr>
          <p:cNvPr id="7" name="Code Card"/>
          <p:cNvSpPr/>
          <p:nvPr/>
        </p:nvSpPr>
        <p:spPr>
          <a:xfrm>
            <a:off x="6173167" y="1109013"/>
            <a:ext cx="5715000" cy="4200000"/>
          </a:xfrm>
          <a:prstGeom prst="roundRect">
            <a:avLst>
              <a:gd name="adj" fmla="val 4281"/>
            </a:avLst>
          </a:prstGeom>
          <a:solidFill>
            <a:srgbClr val="F5F5F5"/>
          </a:solidFill>
          <a:ln>
            <a:solidFill>
              <a:srgbClr val="D9D9D9"/>
            </a:solidFill>
          </a:ln>
        </p:spPr>
        <p:txBody>
          <a:bodyPr wrap="square" lIns="180000" tIns="180000" rIns="180000" bIns="180000" anchor="t">
            <a:normAutofit/>
          </a:bodyPr>
          <a:lstStyle/>
          <a:p>
            <a:pPr>
              <a:buNone/>
            </a:pPr>
            <a:endParaRPr lang="en-GB" sz="105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run_minifi = KubernetesPodOperator(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task_id="run_minifi_crm_export",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namespace="crm-squad-ns",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image="harbor.kb.cz/minifi/minifi-template:1.4.0",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cmds=["/opt/minifi/bin/run.sh"],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arguments=["--config", "/config/exports.yaml"],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kubernetes_conn_id="kb_onprem_k8s",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get_logs=True,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    is_delete_operator_pod=True,</a:t>
            </a:r>
          </a:p>
          <a:p>
            <a:pPr>
              <a:buNone/>
            </a:pPr>
            <a:r>
              <a:rPr lang="en-GB" sz="1050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</p:txBody>
      </p:sp>
      <p:sp>
        <p:nvSpPr>
          <p:cNvPr id="8" name="Live Demo Note"/>
          <p:cNvSpPr txBox="1"/>
          <p:nvPr/>
        </p:nvSpPr>
        <p:spPr>
          <a:xfrm>
            <a:off x="6173167" y="5400000"/>
            <a:ext cx="5715000" cy="65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r>
              <a:rPr lang="en-GB" sz="1200" i="1" dirty="0">
                <a:hlinkClick r:id="rId2"/>
              </a:rPr>
              <a:t>https://airflow-dev.kb.cz/dags/k8s_pod_demo_pje</a:t>
            </a:r>
            <a:endParaRPr lang="en-GB" sz="1200" i="1" dirty="0"/>
          </a:p>
        </p:txBody>
      </p:sp>
    </p:spTree>
    <p:extLst>
      <p:ext uri="{BB962C8B-B14F-4D97-AF65-F5344CB8AC3E}">
        <p14:creationId xmlns:p14="http://schemas.microsoft.com/office/powerpoint/2010/main" val="11000001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05B8EA-2916-B988-82EB-E705A5983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F2E7C1-CA82-F241-8934-AACDE30393F4}" type="slidenum">
              <a:rPr lang="en-CZ" smtClean="0"/>
              <a:pPr/>
              <a:t>10</a:t>
            </a:fld>
            <a:endParaRPr lang="en-CZ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C209E-363D-173E-7DBD-48E2AED8FAA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Planned Next Steps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73925B-454B-154E-0485-FF5B93CBFD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31532-F77A-B423-53E2-FD2CBF9752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/>
              <a:t>PPT Template 2.0</a:t>
            </a:r>
            <a:endParaRPr lang="en-CZ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66D0D07B-E358-EDC1-D75C-3893F004C14E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/>
        <p:txBody>
          <a:bodyPr/>
          <a:lstStyle/>
          <a:p>
            <a:endParaRPr lang="en-CZ"/>
          </a:p>
        </p:txBody>
      </p:sp>
      <p:sp>
        <p:nvSpPr>
          <p:cNvPr id="10" name="Tile1 Body idx16">
            <a:extLst>
              <a:ext uri="{FF2B5EF4-FFF2-40B4-BE49-F238E27FC236}">
                <a16:creationId xmlns:a16="http://schemas.microsoft.com/office/drawing/2014/main" id="{02A0E8F5-6988-E382-D8AE-5F89E7FBAB43}"/>
              </a:ext>
            </a:extLst>
          </p:cNvPr>
          <p:cNvSpPr txBox="1">
            <a:spLocks/>
          </p:cNvSpPr>
          <p:nvPr/>
        </p:nvSpPr>
        <p:spPr>
          <a:xfrm>
            <a:off x="308919" y="1805651"/>
            <a:ext cx="5706870" cy="1865699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1pPr>
            <a:lvl2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2pPr>
            <a:lvl3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3pPr>
            <a:lvl4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4pPr>
            <a:lvl5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4"/>
            <a:r>
              <a:rPr lang="en-GB" dirty="0"/>
              <a:t>CyberArk integration and password rotation (Airflow → Secret → env var)</a:t>
            </a:r>
          </a:p>
          <a:p>
            <a:pPr lvl="4"/>
            <a:r>
              <a:rPr lang="en-GB" dirty="0"/>
              <a:t>Pod lifecycle (wrapper / </a:t>
            </a:r>
            <a:r>
              <a:rPr lang="en-GB" dirty="0" err="1"/>
              <a:t>NiFi</a:t>
            </a:r>
            <a:r>
              <a:rPr lang="en-GB" dirty="0"/>
              <a:t> Stateless) — reliable detection of run completion/failure</a:t>
            </a:r>
          </a:p>
          <a:p>
            <a:pPr lvl="4"/>
            <a:r>
              <a:rPr lang="en-US" dirty="0"/>
              <a:t>Confirmation of the possibility to use the </a:t>
            </a:r>
            <a:r>
              <a:rPr lang="en-US" dirty="0" err="1"/>
              <a:t>KubernetesPodOperator</a:t>
            </a:r>
            <a:r>
              <a:rPr lang="en-US" dirty="0"/>
              <a:t> from GEN2.</a:t>
            </a:r>
            <a:r>
              <a:rPr lang="en-GB" dirty="0"/>
              <a:t> </a:t>
            </a:r>
          </a:p>
        </p:txBody>
      </p:sp>
      <p:sp>
        <p:nvSpPr>
          <p:cNvPr id="11" name="Tile1 Header idx18">
            <a:extLst>
              <a:ext uri="{FF2B5EF4-FFF2-40B4-BE49-F238E27FC236}">
                <a16:creationId xmlns:a16="http://schemas.microsoft.com/office/drawing/2014/main" id="{494445DD-3C1D-1346-B22B-1A5C1959A8AB}"/>
              </a:ext>
            </a:extLst>
          </p:cNvPr>
          <p:cNvSpPr txBox="1">
            <a:spLocks/>
          </p:cNvSpPr>
          <p:nvPr/>
        </p:nvSpPr>
        <p:spPr>
          <a:xfrm>
            <a:off x="303835" y="1430793"/>
            <a:ext cx="5706870" cy="238172"/>
          </a:xfrm>
          <a:prstGeom prst="rect">
            <a:avLst/>
          </a:prstGeom>
        </p:spPr>
        <p:txBody>
          <a:bodyPr/>
          <a:lstStyle>
            <a:lvl1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1pPr>
            <a:lvl2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2pPr>
            <a:lvl3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3pPr>
            <a:lvl4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4pPr>
            <a:lvl5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500" dirty="0">
                <a:solidFill>
                  <a:srgbClr val="909090"/>
                </a:solidFill>
              </a:rPr>
              <a:t>Technical Validation</a:t>
            </a:r>
          </a:p>
        </p:txBody>
      </p:sp>
      <p:sp>
        <p:nvSpPr>
          <p:cNvPr id="14" name="Tile2 Body idx20">
            <a:extLst>
              <a:ext uri="{FF2B5EF4-FFF2-40B4-BE49-F238E27FC236}">
                <a16:creationId xmlns:a16="http://schemas.microsoft.com/office/drawing/2014/main" id="{F9202BD7-5A3E-2CF4-D39E-7FDCEB660432}"/>
              </a:ext>
            </a:extLst>
          </p:cNvPr>
          <p:cNvSpPr txBox="1">
            <a:spLocks/>
          </p:cNvSpPr>
          <p:nvPr/>
        </p:nvSpPr>
        <p:spPr>
          <a:xfrm>
            <a:off x="6181297" y="1805651"/>
            <a:ext cx="5706870" cy="1865699"/>
          </a:xfrm>
          <a:prstGeom prst="rect">
            <a:avLst/>
          </a:prstGeom>
        </p:spPr>
        <p:txBody>
          <a:bodyPr>
            <a:normAutofit/>
          </a:bodyPr>
          <a:lstStyle>
            <a:lvl1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1pPr>
            <a:lvl2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2pPr>
            <a:lvl3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3pPr>
            <a:lvl4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4pPr>
            <a:lvl5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4"/>
            <a:r>
              <a:rPr lang="cs-CZ" sz="1600" dirty="0"/>
              <a:t>Test on Oracle, </a:t>
            </a:r>
            <a:r>
              <a:rPr lang="cs-CZ" sz="1600" dirty="0" err="1"/>
              <a:t>Postgres</a:t>
            </a:r>
            <a:r>
              <a:rPr lang="cs-CZ" sz="1600" dirty="0"/>
              <a:t>, MSSQL, </a:t>
            </a:r>
            <a:r>
              <a:rPr lang="cs-CZ" sz="1600" dirty="0" err="1"/>
              <a:t>Mysql</a:t>
            </a:r>
            <a:endParaRPr lang="cs-CZ" sz="1600" dirty="0"/>
          </a:p>
          <a:p>
            <a:pPr lvl="4"/>
            <a:r>
              <a:rPr lang="cs-CZ" sz="1600" dirty="0"/>
              <a:t>Test on </a:t>
            </a:r>
            <a:r>
              <a:rPr lang="en-GB" sz="1600" dirty="0"/>
              <a:t>Teradata </a:t>
            </a:r>
          </a:p>
          <a:p>
            <a:pPr lvl="4"/>
            <a:r>
              <a:rPr lang="cs-CZ" sz="1600" dirty="0"/>
              <a:t>Testing </a:t>
            </a:r>
            <a:r>
              <a:rPr lang="en-US" sz="1600" dirty="0"/>
              <a:t>increments with watermarks</a:t>
            </a:r>
            <a:endParaRPr lang="en-GB" sz="1600" dirty="0"/>
          </a:p>
          <a:p>
            <a:pPr lvl="4"/>
            <a:r>
              <a:rPr lang="en-GB" sz="1600" dirty="0"/>
              <a:t>Testing on larger data volumes</a:t>
            </a:r>
          </a:p>
        </p:txBody>
      </p:sp>
      <p:sp>
        <p:nvSpPr>
          <p:cNvPr id="15" name="Tile2 Header idx23">
            <a:extLst>
              <a:ext uri="{FF2B5EF4-FFF2-40B4-BE49-F238E27FC236}">
                <a16:creationId xmlns:a16="http://schemas.microsoft.com/office/drawing/2014/main" id="{0644E175-5AA7-9A32-5C70-9DFB8B3B261A}"/>
              </a:ext>
            </a:extLst>
          </p:cNvPr>
          <p:cNvSpPr txBox="1">
            <a:spLocks/>
          </p:cNvSpPr>
          <p:nvPr/>
        </p:nvSpPr>
        <p:spPr>
          <a:xfrm>
            <a:off x="6216014" y="1419046"/>
            <a:ext cx="5706870" cy="238172"/>
          </a:xfrm>
          <a:prstGeom prst="rect">
            <a:avLst/>
          </a:prstGeom>
        </p:spPr>
        <p:txBody>
          <a:bodyPr/>
          <a:lstStyle>
            <a:lvl1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1pPr>
            <a:lvl2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2pPr>
            <a:lvl3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3pPr>
            <a:lvl4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4pPr>
            <a:lvl5pPr marL="266400" indent="-252000" algn="l" defTabSz="914400" rtl="0" eaLnBrk="1" latinLnBrk="0" hangingPunct="1">
              <a:lnSpc>
                <a:spcPct val="100000"/>
              </a:lnSpc>
              <a:spcBef>
                <a:spcPts val="900"/>
              </a:spcBef>
              <a:buSzPct val="100000"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1800" b="1" i="0" kern="1200" spc="-40" baseline="0">
                <a:solidFill>
                  <a:schemeClr val="tx1"/>
                </a:solidFill>
                <a:latin typeface="Source Sans Pro SemiBold" panose="020B0503030403020204" pitchFamily="34" charset="0"/>
                <a:ea typeface="Source Sans Pro SemiBold" panose="020B0503030403020204" pitchFamily="34" charset="0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500" dirty="0">
                <a:solidFill>
                  <a:srgbClr val="909090"/>
                </a:solidFill>
              </a:rPr>
              <a:t>Performance and Scale</a:t>
            </a:r>
          </a:p>
        </p:txBody>
      </p:sp>
    </p:spTree>
    <p:extLst>
      <p:ext uri="{BB962C8B-B14F-4D97-AF65-F5344CB8AC3E}">
        <p14:creationId xmlns:p14="http://schemas.microsoft.com/office/powerpoint/2010/main" val="37435318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/>
      </a:spPr>
      <a:bodyPr wrap="square" lIns="0" tIns="0" rIns="0" bIns="0" rtlCol="0" anchor="ctr"/>
      <a:lstStyle>
        <a:defPPr algn="l">
          <a:lnSpc>
            <a:spcPts val="1800"/>
          </a:lnSpc>
          <a:defRPr sz="1350" kern="0" spc="-34" dirty="0">
            <a:solidFill>
              <a:srgbClr val="909090">
                <a:alpha val="100000"/>
              </a:srgbClr>
            </a:solidFill>
            <a:latin typeface="Source Sans Pro SemiBold" pitchFamily="34" charset="0"/>
            <a:ea typeface="Source Sans Pro SemiBold" pitchFamily="34" charset="-122"/>
            <a:cs typeface="Source Sans Pro SemiBold" pitchFamily="34" charset="-120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1785</TotalTime>
  <Words>981</Words>
  <Application>Microsoft Office PowerPoint</Application>
  <PresentationFormat>Širokoúhlá obrazovka</PresentationFormat>
  <Paragraphs>156</Paragraphs>
  <Slides>10</Slides>
  <Notes>0</Notes>
  <HiddenSlides>0</HiddenSlides>
  <MMClips>0</MMClips>
  <ScaleCrop>false</ScaleCrop>
  <HeadingPairs>
    <vt:vector size="6" baseType="variant">
      <vt:variant>
        <vt:lpstr>Použitá písma</vt:lpstr>
      </vt:variant>
      <vt:variant>
        <vt:i4>7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10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Consolas</vt:lpstr>
      <vt:lpstr>Source Sans Pro</vt:lpstr>
      <vt:lpstr>Source Sans Pro SemiBold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Lukas Pitter</dc:creator>
  <cp:lastModifiedBy>Jerabek Pavel</cp:lastModifiedBy>
  <cp:revision>32</cp:revision>
  <dcterms:created xsi:type="dcterms:W3CDTF">2024-01-03T16:58:28Z</dcterms:created>
  <dcterms:modified xsi:type="dcterms:W3CDTF">2026-09-29T11:52:24Z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76d9757-80ae-4c87-b4d7-9ffa7a0710d0_Enabled">
    <vt:lpwstr>true</vt:lpwstr>
  </property>
  <property fmtid="{D5CDD505-2E9C-101B-9397-08002B2CF9AE}" pid="3" name="MSIP_Label_076d9757-80ae-4c87-b4d7-9ffa7a0710d0_SetDate">
    <vt:lpwstr>2026-09-29T11:52:24Z</vt:lpwstr>
  </property>
  <property fmtid="{D5CDD505-2E9C-101B-9397-08002B2CF9AE}" pid="4" name="MSIP_Label_076d9757-80ae-4c87-b4d7-9ffa7a0710d0_Method">
    <vt:lpwstr>Standard</vt:lpwstr>
  </property>
  <property fmtid="{D5CDD505-2E9C-101B-9397-08002B2CF9AE}" pid="5" name="MSIP_Label_076d9757-80ae-4c87-b4d7-9ffa7a0710d0_Name">
    <vt:lpwstr>076d9757-80ae-4c87-b4d7-9ffa7a0710d0</vt:lpwstr>
  </property>
  <property fmtid="{D5CDD505-2E9C-101B-9397-08002B2CF9AE}" pid="6" name="MSIP_Label_076d9757-80ae-4c87-b4d7-9ffa7a0710d0_SiteId">
    <vt:lpwstr>c79e7c80-cff5-4503-b468-3702cea89272</vt:lpwstr>
  </property>
  <property fmtid="{D5CDD505-2E9C-101B-9397-08002B2CF9AE}" pid="7" name="MSIP_Label_076d9757-80ae-4c87-b4d7-9ffa7a0710d0_ActionId">
    <vt:lpwstr>c3e945b3-e63b-4ad7-87d0-1b32f3e9e834</vt:lpwstr>
  </property>
  <property fmtid="{D5CDD505-2E9C-101B-9397-08002B2CF9AE}" pid="8" name="MSIP_Label_076d9757-80ae-4c87-b4d7-9ffa7a0710d0_ContentBits">
    <vt:lpwstr>0</vt:lpwstr>
  </property>
  <property fmtid="{D5CDD505-2E9C-101B-9397-08002B2CF9AE}" pid="9" name="Kod_Duvernosti">
    <vt:lpwstr>KB_C1_INTERNAL_992521</vt:lpwstr>
  </property>
</Properties>
</file>
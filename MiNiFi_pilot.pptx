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87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500" r:id="rId100"/>
    <p:sldId id="501" r:id="rId101"/>
    <p:sldId id="502" r:id="rId102"/>
    <p:sldId id="503" r:id="rId103"/>
    <p:sldId id="401" r:id="rId29"/>
    <p:sldId id="510" r:id="rId110"/>
    <p:sldId id="402" r:id="rId30"/>
    <p:sldId id="504" r:id="rId104"/>
    <p:sldId id="505" r:id="rId105"/>
    <p:sldId id="506" r:id="rId106"/>
    <p:sldId id="507" r:id="rId107"/>
    <p:sldId id="508" r:id="rId108"/>
    <p:sldId id="509" r:id="rId109"/>
  </p:sldIdLst>
  <p:sldSz cx="12192000" cy="6858000"/>
  <p:notesSz cx="6858000" cy="9144000"/>
  <p:defaultTextStyle>
    <a:defPPr>
      <a:defRPr lang="en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9090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7"/>
    <p:restoredTop sz="94719"/>
  </p:normalViewPr>
  <p:slideViewPr>
    <p:cSldViewPr>
      <p:cViewPr varScale="1">
        <p:scale>
          <a:sx n="108" d="100"/>
          <a:sy n="108" d="100"/>
        </p:scale>
        <p:origin x="109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68" d="100"/>
          <a:sy n="168" d="100"/>
        </p:scale>
        <p:origin x="6640" y="216"/>
      </p:cViewPr>
      <p:guideLst/>
    </p:cSldViewPr>
  </p:notesViewPr>
  <p:gridSpacing cx="120014" cy="12001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100" Type="http://schemas.openxmlformats.org/officeDocument/2006/relationships/slide" Target="slides/slide100.xml"/><Relationship Id="rId101" Type="http://schemas.openxmlformats.org/officeDocument/2006/relationships/slide" Target="slides/slide101.xml"/><Relationship Id="rId102" Type="http://schemas.openxmlformats.org/officeDocument/2006/relationships/slide" Target="slides/slide102.xml"/><Relationship Id="rId103" Type="http://schemas.openxmlformats.org/officeDocument/2006/relationships/slide" Target="slides/slide103.xml"/><Relationship Id="rId104" Type="http://schemas.openxmlformats.org/officeDocument/2006/relationships/slide" Target="slides/slide104.xml"/><Relationship Id="rId105" Type="http://schemas.openxmlformats.org/officeDocument/2006/relationships/slide" Target="slides/slide105.xml"/><Relationship Id="rId106" Type="http://schemas.openxmlformats.org/officeDocument/2006/relationships/slide" Target="slides/slide106.xml"/><Relationship Id="rId107" Type="http://schemas.openxmlformats.org/officeDocument/2006/relationships/slide" Target="slides/slide107.xml"/><Relationship Id="rId108" Type="http://schemas.openxmlformats.org/officeDocument/2006/relationships/slide" Target="slides/slide108.xml"/><Relationship Id="rId109" Type="http://schemas.openxmlformats.org/officeDocument/2006/relationships/slide" Target="slides/slide109.xml"/><Relationship Id="rId110" Type="http://schemas.openxmlformats.org/officeDocument/2006/relationships/slide" Target="slides/slide110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320C36-DC24-9ED4-9285-F5D0B778F4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43042-8AE0-5CD3-2129-3208B06289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7E257-C412-4242-A355-113E9CC09C74}" type="datetimeFigureOut">
              <a:rPr lang="en-CZ" smtClean="0"/>
              <a:t>09/23/2026</a:t>
            </a:fld>
            <a:endParaRPr lang="en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CDA26-C1FF-94A3-C007-15CD1CC727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A3F51-E3B4-B290-9045-934B6BA49C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26D12-D636-824E-9AE4-A01881B3441F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8854084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39C9E-DFEA-E74F-96C8-E003C538A4D5}" type="datetimeFigureOut">
              <a:rPr lang="en-CZ" smtClean="0"/>
              <a:t>09/23/2026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BFD19-864A-2B40-B388-40CB282C2D58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8150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creen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FB51FD0-70D5-87C5-73B4-E4694559E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Image 2" descr=" ">
            <a:extLst>
              <a:ext uri="{FF2B5EF4-FFF2-40B4-BE49-F238E27FC236}">
                <a16:creationId xmlns:a16="http://schemas.microsoft.com/office/drawing/2014/main" id="{F696AA6D-7B2B-9E7A-16B9-E36EB7D493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2419" y="6238229"/>
            <a:ext cx="199407" cy="18583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C61645C-D48D-090F-C2EE-55373066A0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5510" y="463277"/>
            <a:ext cx="3813857" cy="232185"/>
          </a:xfrm>
        </p:spPr>
        <p:txBody>
          <a:bodyPr lIns="0" anchor="ctr">
            <a:normAutofit/>
          </a:bodyPr>
          <a:lstStyle>
            <a:lvl1pPr marL="0" indent="0" algn="ctr">
              <a:buNone/>
              <a:defRPr sz="135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CZ" dirty="0"/>
              <a:t>C1 Úroveň zabezpečení | XX.XX.XXXX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BF70079-2AB8-E980-0B3D-21FADCC9C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28" y="1013282"/>
            <a:ext cx="6480756" cy="2366480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Presentation Title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268D20D9-FA91-EC73-296F-A97036CC94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28" y="3515889"/>
            <a:ext cx="6480756" cy="1902833"/>
          </a:xfr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Speaker 1, Job Position</a:t>
            </a:r>
          </a:p>
          <a:p>
            <a:pPr lvl="0"/>
            <a:r>
              <a:rPr lang="en-GB" dirty="0"/>
              <a:t>Speaker 2, Job Position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788007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square object with a red background&#10;&#10;AI-generated content may be incorrect.">
            <a:extLst>
              <a:ext uri="{FF2B5EF4-FFF2-40B4-BE49-F238E27FC236}">
                <a16:creationId xmlns:a16="http://schemas.microsoft.com/office/drawing/2014/main" id="{113C6E9E-01AF-99AB-57DB-2005572AEB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4210275"/>
            <a:ext cx="9757753" cy="1576834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5750" spc="-2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Presentation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F5FFD48-1135-003F-BE12-A4D8BD8830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7286" y="540768"/>
            <a:ext cx="9757441" cy="232185"/>
          </a:xfrm>
        </p:spPr>
        <p:txBody>
          <a:bodyPr lIns="90000" anchor="ctr">
            <a:normAutofit/>
          </a:bodyPr>
          <a:lstStyle>
            <a:lvl1pPr marL="0" indent="0" algn="l">
              <a:buNone/>
              <a:defRPr sz="1350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C1 Úroveň zabezpečení | XX.XX.XXXX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6975" y="3258882"/>
            <a:ext cx="9757752" cy="809625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sz="21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Speaker Name, Job Position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355483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6968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36968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FCEA7A-4C33-A425-8D36-AEB6FC3946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4068773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pic>
        <p:nvPicPr>
          <p:cNvPr id="15" name="Picture 14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4A4EF927-3407-5CAD-43C4-A7FC5993C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25888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0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6590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707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  <p:pic>
        <p:nvPicPr>
          <p:cNvPr id="15" name="Picture 14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4A4EF927-3407-5CAD-43C4-A7FC5993C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5598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6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ackground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2137E87-0830-5333-70AF-71211948C9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6590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707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425441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ru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3124041"/>
            <a:ext cx="9757753" cy="1576834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5750" spc="-2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Z" dirty="0"/>
              <a:t>Rule number one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7286" y="2480465"/>
            <a:ext cx="9769715" cy="668124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2600" b="1" i="0" spc="-60" baseline="0">
                <a:solidFill>
                  <a:srgbClr val="909090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Rule #1</a:t>
            </a:r>
            <a:endParaRPr lang="en-CZ" dirty="0"/>
          </a:p>
        </p:txBody>
      </p:sp>
      <p:pic>
        <p:nvPicPr>
          <p:cNvPr id="4" name="Picture 3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BE6F4253-66D5-BFAF-D7A8-A3DE4917D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04729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rul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black curved object&#10;&#10;AI-generated content may be incorrect.">
            <a:extLst>
              <a:ext uri="{FF2B5EF4-FFF2-40B4-BE49-F238E27FC236}">
                <a16:creationId xmlns:a16="http://schemas.microsoft.com/office/drawing/2014/main" id="{642FFEE4-A78C-ED95-44C1-9D47F5FB8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3124041"/>
            <a:ext cx="9757753" cy="1576834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5750" spc="-2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Rule number one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7286" y="2480465"/>
            <a:ext cx="9769715" cy="668124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26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Rule #1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26395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29157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5715000" cy="4588971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639" y="1809750"/>
            <a:ext cx="5702441" cy="4584872"/>
          </a:xfrm>
        </p:spPr>
        <p:txBody>
          <a:bodyPr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561" y="1430793"/>
            <a:ext cx="571063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41661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white rectangular object with black dots&#10;&#10;Description automatically generated">
            <a:extLst>
              <a:ext uri="{FF2B5EF4-FFF2-40B4-BE49-F238E27FC236}">
                <a16:creationId xmlns:a16="http://schemas.microsoft.com/office/drawing/2014/main" id="{D0A56A95-2651-7BE3-CCA5-6FFD90663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3748675" cy="4588971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23474" y="1809750"/>
            <a:ext cx="3748674" cy="4584872"/>
          </a:xfrm>
        </p:spPr>
        <p:txBody>
          <a:bodyPr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3475" y="1430793"/>
            <a:ext cx="3748674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FF836928-D44A-F6A4-55EF-EEE3A562A4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1650" y="1809750"/>
            <a:ext cx="3765550" cy="4584872"/>
          </a:xfrm>
        </p:spPr>
        <p:txBody>
          <a:bodyPr rIns="324000"/>
          <a:lstStyle/>
          <a:p>
            <a:pPr lvl="0"/>
            <a:r>
              <a:rPr lang="en-CZ" dirty="0"/>
              <a:t>Donec ultricies, nisi eget porttitor.</a:t>
            </a:r>
          </a:p>
          <a:p>
            <a:pPr lvl="2"/>
            <a:r>
              <a:rPr lang="en-CZ" dirty="0"/>
              <a:t>Mauris in porta sapien. Morbi.</a:t>
            </a:r>
          </a:p>
          <a:p>
            <a:pPr lvl="2"/>
            <a:r>
              <a:rPr lang="en-CZ" dirty="0"/>
              <a:t>Nulla turpis magna, malesuada.</a:t>
            </a:r>
          </a:p>
          <a:p>
            <a:pPr lvl="2"/>
            <a:r>
              <a:rPr lang="en-CZ" dirty="0"/>
              <a:t>Nunc feugiat nunc.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3E1FDA4-9661-C8FC-6074-D7BC1D4F61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5472" y="1433968"/>
            <a:ext cx="3768077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5375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04024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C72BF794-86A9-C2D6-8D24-126A1602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5706870" cy="1865699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3835" y="4528922"/>
            <a:ext cx="5711954" cy="1865699"/>
          </a:xfrm>
        </p:spPr>
        <p:txBody>
          <a:bodyPr rIns="324000"/>
          <a:lstStyle/>
          <a:p>
            <a:pPr lvl="2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, nisi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in porta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Morbi.</a:t>
            </a:r>
          </a:p>
          <a:p>
            <a:pPr lvl="2"/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turpis</a:t>
            </a:r>
            <a:r>
              <a:rPr lang="en-GB" dirty="0">
                <a:effectLst/>
              </a:rPr>
              <a:t> magna,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>
                <a:effectLst/>
              </a:rPr>
              <a:t>Nunc </a:t>
            </a:r>
            <a:r>
              <a:rPr lang="en-GB" dirty="0" err="1">
                <a:effectLst/>
              </a:rPr>
              <a:t>feugiat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926" y="415908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A6A74171-E976-3643-BF25-896194A80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97" y="1805651"/>
            <a:ext cx="5706870" cy="1865699"/>
          </a:xfrm>
        </p:spPr>
        <p:txBody>
          <a:bodyPr rIns="324000"/>
          <a:lstStyle/>
          <a:p>
            <a:pPr lvl="4"/>
            <a:r>
              <a:rPr lang="en-GB" dirty="0">
                <a:effectLst/>
              </a:rPr>
              <a:t>Cras auctor,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</a:t>
            </a:r>
          </a:p>
          <a:p>
            <a:pPr lvl="4"/>
            <a:r>
              <a:rPr lang="en-GB" dirty="0">
                <a:effectLst/>
              </a:rPr>
              <a:t>Vestibulum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, ex et </a:t>
            </a:r>
            <a:r>
              <a:rPr lang="en-GB" dirty="0" err="1">
                <a:effectLst/>
              </a:rPr>
              <a:t>placerat</a:t>
            </a:r>
            <a:endParaRPr lang="en-GB" dirty="0">
              <a:effectLst/>
            </a:endParaRPr>
          </a:p>
          <a:p>
            <a:pPr lvl="4"/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endParaRPr lang="en-CZ" dirty="0"/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BBBD009F-15D0-60CD-B3CA-988DFB10F9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6213" y="4528922"/>
            <a:ext cx="5711954" cy="1865699"/>
          </a:xfrm>
        </p:spPr>
        <p:txBody>
          <a:bodyPr rIns="324000"/>
          <a:lstStyle/>
          <a:p>
            <a:pPr lvl="2"/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, lorem at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 dictum.</a:t>
            </a:r>
          </a:p>
          <a:p>
            <a:pPr lvl="2"/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magna.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ex.</a:t>
            </a:r>
          </a:p>
          <a:p>
            <a:pPr lvl="2"/>
            <a:r>
              <a:rPr lang="en-GB" dirty="0">
                <a:effectLst/>
              </a:rPr>
              <a:t>Aenean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neque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6D00DAC-600E-653C-1D40-A87E3A064E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0304" y="415908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7C08DB3-E084-4CE9-0A02-26C5C499DF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6213" y="143079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4202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6CA2F6AE-3BF0-564A-2189-7F2EF7BA7F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926" y="3836355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Proin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ornare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commodo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consectetur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,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sagittis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purus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01CA1E-D2CD-EDC4-D9AC-9729D86EEC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926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Duis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sollicitudin</a:t>
            </a:r>
            <a:r>
              <a:rPr lang="en-GB" dirty="0">
                <a:effectLst/>
              </a:rPr>
              <a:t> nisi.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metus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consequat</a:t>
            </a:r>
            <a:r>
              <a:rPr lang="en-GB" dirty="0">
                <a:effectLst/>
              </a:rPr>
              <a:t> in,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Vivamus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 libero. Maecenas vestibulum.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C2FE33D-DF87-F832-AAAD-D8759EEF3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907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. Nam </a:t>
            </a:r>
            <a:r>
              <a:rPr lang="en-GB" dirty="0" err="1">
                <a:effectLst/>
              </a:rPr>
              <a:t>mollis</a:t>
            </a:r>
            <a:r>
              <a:rPr lang="en-GB" dirty="0">
                <a:effectLst/>
              </a:rPr>
              <a:t> fermentum </a:t>
            </a:r>
            <a:r>
              <a:rPr lang="en-GB" dirty="0" err="1">
                <a:effectLst/>
              </a:rPr>
              <a:t>lacus</a:t>
            </a:r>
            <a:r>
              <a:rPr lang="en-GB" dirty="0">
                <a:effectLst/>
              </a:rPr>
              <a:t>.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798195-7A30-2172-FD40-31EF699D19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1888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risus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imperdiet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lorem.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DFBAB27-E799-03C9-A3C7-0381590EFB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3607" y="3836355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egestas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, non maximus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 in mi.</a:t>
            </a:r>
          </a:p>
        </p:txBody>
      </p:sp>
    </p:spTree>
    <p:extLst>
      <p:ext uri="{BB962C8B-B14F-4D97-AF65-F5344CB8AC3E}">
        <p14:creationId xmlns:p14="http://schemas.microsoft.com/office/powerpoint/2010/main" val="3266896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quares on a white background&#10;&#10;Description automatically generated">
            <a:extLst>
              <a:ext uri="{FF2B5EF4-FFF2-40B4-BE49-F238E27FC236}">
                <a16:creationId xmlns:a16="http://schemas.microsoft.com/office/drawing/2014/main" id="{415059ED-DF8B-5043-BA2C-743B9405BD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01CA1E-D2CD-EDC4-D9AC-9729D86EEC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926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Duis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sollicitudin</a:t>
            </a:r>
            <a:r>
              <a:rPr lang="en-GB" dirty="0">
                <a:effectLst/>
              </a:rPr>
              <a:t> nisi.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metus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consequat</a:t>
            </a:r>
            <a:r>
              <a:rPr lang="en-GB" dirty="0">
                <a:effectLst/>
              </a:rPr>
              <a:t> in,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Vivamus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 libero. Maecenas vestibulum.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C2FE33D-DF87-F832-AAAD-D8759EEF3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907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. Nam </a:t>
            </a:r>
            <a:r>
              <a:rPr lang="en-GB" dirty="0" err="1">
                <a:effectLst/>
              </a:rPr>
              <a:t>mollis</a:t>
            </a:r>
            <a:r>
              <a:rPr lang="en-GB" dirty="0">
                <a:effectLst/>
              </a:rPr>
              <a:t> fermentum </a:t>
            </a:r>
            <a:r>
              <a:rPr lang="en-GB" dirty="0" err="1">
                <a:effectLst/>
              </a:rPr>
              <a:t>lacus</a:t>
            </a:r>
            <a:r>
              <a:rPr lang="en-GB" dirty="0">
                <a:effectLst/>
              </a:rPr>
              <a:t>.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798195-7A30-2172-FD40-31EF699D19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1888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risus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imperdiet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lorem.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7549758-A2DD-D42E-BFDE-03BF460B59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052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Proin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ornare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commodo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consectetur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,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sagittis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purus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408C7F1-4E97-33E6-5C76-0AD1AE80A6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18033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egestas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, non maximus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 in mi.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80F647A-9366-A7DD-2048-9C1E320BD4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5014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pretium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diam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tellus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. Maecenas </a:t>
            </a:r>
            <a:r>
              <a:rPr lang="en-GB" dirty="0" err="1">
                <a:effectLst/>
              </a:rPr>
              <a:t>feugiat</a:t>
            </a:r>
            <a:r>
              <a:rPr lang="en-GB" dirty="0">
                <a:effectLst/>
              </a:rPr>
              <a:t> ante.</a:t>
            </a:r>
          </a:p>
        </p:txBody>
      </p:sp>
    </p:spTree>
    <p:extLst>
      <p:ext uri="{BB962C8B-B14F-4D97-AF65-F5344CB8AC3E}">
        <p14:creationId xmlns:p14="http://schemas.microsoft.com/office/powerpoint/2010/main" val="1662615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Tile–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88D61EF-9F72-416B-0D60-FAA12B5486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1158433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910157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card&#10;&#10;Description automatically generated">
            <a:extLst>
              <a:ext uri="{FF2B5EF4-FFF2-40B4-BE49-F238E27FC236}">
                <a16:creationId xmlns:a16="http://schemas.microsoft.com/office/drawing/2014/main" id="{1953CDB6-D0DB-DC8C-105A-A75847BF36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9912CB4-4140-BFD0-34DC-C64D3FBE07C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61BF4BD-0E64-0DBF-120C-1FAFE9CBD2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3167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26619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rectangular object with black dots&#10;&#10;Description automatically generated">
            <a:extLst>
              <a:ext uri="{FF2B5EF4-FFF2-40B4-BE49-F238E27FC236}">
                <a16:creationId xmlns:a16="http://schemas.microsoft.com/office/drawing/2014/main" id="{2EB4F304-94CF-9885-403A-87909578EA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8FE725D-7C57-F50C-8DCF-37954C00015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11299" y="1106937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3743C530-F7D4-3A67-E309-896307902E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1299" y="1440749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3ED9C50-B697-3F7F-1F7F-F7B380BF13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FEBF151-E5B1-3534-88CD-24D8410A7B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803004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C72BF794-86A9-C2D6-8D24-126A1602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61F4D840-AD8A-70EC-BF49-C6E0270420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7743" y="1108744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3039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36DC948E-A205-CDE5-9740-DEA2F253763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77387" y="1108744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A1948BC-EFE8-D695-1AE1-BEA2F1F3AE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3479" y="1433039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A1ECD638-8B2D-0E33-7DA4-C1526244836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7743" y="3834025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409DC529-660A-5FAF-68AD-1D137FC36D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3835" y="4158320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880F9B78-5A7E-8C54-8457-7EFA8F6CD6F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77387" y="3834025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17FF94B-1DDA-95AA-55DD-B18570AF3A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73479" y="4158320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340520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+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4781"/>
            <a:ext cx="5715000" cy="5289842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C41B170E-89EB-306F-074C-6A9316A9970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561" y="1430793"/>
            <a:ext cx="571063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658398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+Conten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BC5A91B5-6135-C30A-5A66-DCBDB82CE9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639" y="1104780"/>
            <a:ext cx="5702441" cy="5289842"/>
          </a:xfrm>
        </p:spPr>
        <p:txBody>
          <a:bodyPr tIns="324000"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0B6EF450-3C96-CDA7-78AC-237761C2E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476537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phone&#10;&#10;Description automatically generated">
            <a:extLst>
              <a:ext uri="{FF2B5EF4-FFF2-40B4-BE49-F238E27FC236}">
                <a16:creationId xmlns:a16="http://schemas.microsoft.com/office/drawing/2014/main" id="{C945A0E4-5813-3709-B9BD-7F2AF6C78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0A18D2FB-0246-3EDD-7A8F-FC8F3B95C5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4781"/>
            <a:ext cx="3763072" cy="5289842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22FED59-3E64-B8CC-1AC2-28AD6DA9F25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29100" y="1109013"/>
            <a:ext cx="7659067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CA771E8-1AF1-B711-4453-25A396451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9100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859009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E1D5169E-3C96-F545-A005-3A2764BBCE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4F3449B-C559-73F6-46A8-A4BAFBD73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4" y="1109013"/>
            <a:ext cx="7674305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B7A88CD3-DA4A-12F5-4288-A34CE4FC47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4825" y="1104780"/>
            <a:ext cx="3758255" cy="5289842"/>
          </a:xfrm>
        </p:spPr>
        <p:txBody>
          <a:bodyPr tIns="324000"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378099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Content+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black dots&#10;&#10;Description automatically generated with medium confidence">
            <a:extLst>
              <a:ext uri="{FF2B5EF4-FFF2-40B4-BE49-F238E27FC236}">
                <a16:creationId xmlns:a16="http://schemas.microsoft.com/office/drawing/2014/main" id="{076A6F03-4902-A51A-B12F-AE3FB95F5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01D10A0-923E-FAB1-E456-AB63C75524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653525F-23C7-7BB2-C46A-A5F5895A1E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3167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0CD31C98-8DC0-F43B-B755-33DF7A7BCB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9014"/>
            <a:ext cx="5706870" cy="2540566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24F1AB87-FA01-239D-A9CB-CF2AB85777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8919" y="3859941"/>
            <a:ext cx="5706870" cy="2540566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</p:spTree>
    <p:extLst>
      <p:ext uri="{BB962C8B-B14F-4D97-AF65-F5344CB8AC3E}">
        <p14:creationId xmlns:p14="http://schemas.microsoft.com/office/powerpoint/2010/main" val="1175236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Image+Conten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38706A17-39D3-579F-A268-DDF2351BC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BDCF88B0-877A-9C10-4ADF-7406A127C7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97" y="1118813"/>
            <a:ext cx="5706870" cy="2552537"/>
          </a:xfrm>
        </p:spPr>
        <p:txBody>
          <a:bodyPr tIns="324000" rIns="324000"/>
          <a:lstStyle/>
          <a:p>
            <a:pPr lvl="4"/>
            <a:r>
              <a:rPr lang="en-GB" dirty="0">
                <a:effectLst/>
              </a:rPr>
              <a:t>Cras auctor,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</a:t>
            </a:r>
          </a:p>
          <a:p>
            <a:pPr lvl="4"/>
            <a:r>
              <a:rPr lang="en-GB" dirty="0">
                <a:effectLst/>
              </a:rPr>
              <a:t>Vestibulum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, ex et </a:t>
            </a:r>
            <a:r>
              <a:rPr lang="en-GB" dirty="0" err="1">
                <a:effectLst/>
              </a:rPr>
              <a:t>placerat</a:t>
            </a:r>
            <a:endParaRPr lang="en-GB" dirty="0">
              <a:effectLst/>
            </a:endParaRPr>
          </a:p>
          <a:p>
            <a:pPr lvl="4"/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endParaRPr lang="en-CZ" dirty="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6168C927-A516-58D5-D9D5-C6AF72606C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6213" y="3842084"/>
            <a:ext cx="5711954" cy="2552537"/>
          </a:xfrm>
        </p:spPr>
        <p:txBody>
          <a:bodyPr tIns="324000" rIns="324000"/>
          <a:lstStyle/>
          <a:p>
            <a:pPr lvl="2"/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, lorem at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 dictum.</a:t>
            </a:r>
          </a:p>
          <a:p>
            <a:pPr lvl="2"/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magna.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ex.</a:t>
            </a:r>
          </a:p>
          <a:p>
            <a:pPr lvl="2"/>
            <a:r>
              <a:rPr lang="en-GB" dirty="0">
                <a:effectLst/>
              </a:rPr>
              <a:t>Aenean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neque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E0BA5753-0918-88BD-DB5F-F9594A9668C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671983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screenshot of a phone&#10;&#10;Description automatically generated">
            <a:extLst>
              <a:ext uri="{FF2B5EF4-FFF2-40B4-BE49-F238E27FC236}">
                <a16:creationId xmlns:a16="http://schemas.microsoft.com/office/drawing/2014/main" id="{E3FA366D-A4A9-5186-13E0-F1FD15E56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EE98F0A-7C09-6202-5C95-4ECACF5E8D0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24696F60-FDED-5098-D9C9-25A4ED2027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43F70FE-BD6A-5CE8-576B-C81AABE1ED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5717" y="1114359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A7593F-E038-20B6-2AB9-B58ED81586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5717" y="2933142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6295C81-B298-0EB4-0D95-62112565FC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5717" y="4762793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44805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phone&#10;&#10;Description automatically generated">
            <a:extLst>
              <a:ext uri="{FF2B5EF4-FFF2-40B4-BE49-F238E27FC236}">
                <a16:creationId xmlns:a16="http://schemas.microsoft.com/office/drawing/2014/main" id="{0FAA8E98-5D30-9C98-499F-AC0E0F2F47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6058" y="1114359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8032A59-EB50-70C6-5F6F-195B904B8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D6DBA9D-8DD9-F1FA-1C30-06FA1E493A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6058" y="2933142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6058" y="4762793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8443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CF265211-60D3-3CC3-3366-CCC9925ABF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835" y="1114360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835" y="24796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3835" y="38409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56E1D2-760B-9E51-2AB3-DBA138AB39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3835" y="52022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libero at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molestie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eleifend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natoque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penatibus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magnis</a:t>
            </a:r>
            <a:r>
              <a:rPr lang="en-GB" dirty="0">
                <a:effectLst/>
              </a:rPr>
              <a:t> dis parturient </a:t>
            </a:r>
            <a:r>
              <a:rPr lang="en-GB" dirty="0" err="1">
                <a:effectLst/>
              </a:rPr>
              <a:t>montes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nascetur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ridiculus</a:t>
            </a:r>
            <a:r>
              <a:rPr lang="en-GB" dirty="0">
                <a:effectLst/>
              </a:rPr>
              <a:t> mus.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a nisi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, auctor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 sit.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5CABB5-85CA-C66D-C0DD-3F700D40071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3DCAE1E-438A-98F1-40FA-EE7CE5FBD5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387288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B605E262-C524-50F2-FEED-2ADB5BEB30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6058" y="1114360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8032A59-EB50-70C6-5F6F-195B904B8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D6DBA9D-8DD9-F1FA-1C30-06FA1E493A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6058" y="24796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6058" y="38409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56E1D2-760B-9E51-2AB3-DBA138AB39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058" y="52022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libero at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molestie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eleifend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natoque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penatibus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magnis</a:t>
            </a:r>
            <a:r>
              <a:rPr lang="en-GB" dirty="0">
                <a:effectLst/>
              </a:rPr>
              <a:t> dis parturient </a:t>
            </a:r>
            <a:r>
              <a:rPr lang="en-GB" dirty="0" err="1">
                <a:effectLst/>
              </a:rPr>
              <a:t>montes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nascetur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ridiculus</a:t>
            </a:r>
            <a:r>
              <a:rPr lang="en-GB" dirty="0">
                <a:effectLst/>
              </a:rPr>
              <a:t> mus.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a nisi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, auctor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 sit.</a:t>
            </a:r>
          </a:p>
        </p:txBody>
      </p:sp>
    </p:spTree>
    <p:extLst>
      <p:ext uri="{BB962C8B-B14F-4D97-AF65-F5344CB8AC3E}">
        <p14:creationId xmlns:p14="http://schemas.microsoft.com/office/powerpoint/2010/main" val="26414143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city log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square with a white background&#10;&#10;Description automatically generated">
            <a:extLst>
              <a:ext uri="{FF2B5EF4-FFF2-40B4-BE49-F238E27FC236}">
                <a16:creationId xmlns:a16="http://schemas.microsoft.com/office/drawing/2014/main" id="{4F5A1724-BE65-B397-9106-BD6BB8303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24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city logo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square with white text&#10;&#10;Description automatically generated">
            <a:extLst>
              <a:ext uri="{FF2B5EF4-FFF2-40B4-BE49-F238E27FC236}">
                <a16:creationId xmlns:a16="http://schemas.microsoft.com/office/drawing/2014/main" id="{E771A05C-2DC1-C320-255C-855C07680F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87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B log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321B8429-C301-6AEA-B3DE-04B381BF3A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00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4C055E-5293-3769-025F-0FEC044E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E01CB-62BF-0AF7-3848-F0459ADE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51484"/>
            <a:ext cx="10515600" cy="4351338"/>
          </a:xfrm>
          <a:prstGeom prst="rect">
            <a:avLst/>
          </a:prstGeom>
        </p:spPr>
        <p:txBody>
          <a:bodyPr vert="horz" lIns="324000" tIns="45720" rIns="32400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36F3A-8C20-9D36-7723-BA810354E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6947" y="64426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90909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D03E34F-0A3A-005A-A05A-9369A53D3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42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ADADAD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 dirty="0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34861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49" r:id="rId8"/>
    <p:sldLayoutId id="2147483667" r:id="rId9"/>
    <p:sldLayoutId id="2147483668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9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1pPr>
      <a:lvl2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2pPr>
      <a:lvl3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3pPr>
      <a:lvl4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4pPr>
      <a:lvl5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BA27AC-3D01-C159-1268-E1FAFF5DA6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25A76-9FA8-2823-6F21-80D5E256A8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7990E-8CF5-967D-2A57-6AE9B82DBA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1960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4F59E0-A54D-8880-FE9B-BCC1045555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2AF8B-BD9F-6692-BB30-05744C0EE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8ACD3AB-3FEE-D25B-37C9-932883127E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4212137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B1367B-F17A-C976-555E-2BDE1818C5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EC2B2-195E-1BA9-3992-A292FA4984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9132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2AE5D8-3725-9A2F-7A4B-2B931D1EBC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32EC6-CA30-69C9-859E-50D9E229D2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49319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2C5324-091D-7F17-98EC-E12DF097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5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596A2-8431-695E-0D18-4A2F7C22C7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BC374-3B34-E415-DF98-906CE3056B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FF02E-FA20-03A1-8065-FA5952118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11411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781BD9-0B81-42F3-D59F-6E6A15D7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6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70404-B784-0B43-D696-42B4C3A04A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2068A-8A7F-5C84-B110-EA405BF76C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C3E3F-BD05-3F1A-2481-7098C7F081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317B37-0FB1-F6F3-9D09-8569B4B45D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5E6B7F-E67F-ECDF-9B79-3BA89DCFD7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15C748-10E7-3B46-E75A-44BB240991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EDD25E-E5AA-10B9-6E53-211E5E4CD3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38895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138133-860B-97FC-B1BB-11549A6D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7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73078-FDCE-B669-5C77-18879F222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559B8-ACF3-70EB-1275-FB8F215B4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E222E-285D-E79A-138C-DD92E7EF11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23D365-E001-B133-87EE-AF672D3586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B74C09-0606-78A4-3CEF-E1D58703B1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5512F3-9524-85B9-C756-A62557C966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CD617E-B235-B787-BAF7-45C6EDD24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BF5F13-CD36-8D97-E8A9-D30E685825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CC4D10-05F7-B2BA-0907-5E8A1CC7D7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7581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243604-FDDA-EDB5-A81A-D78FF03E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8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CC1F9-10BA-1C1F-F3FE-E6F963C9D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02889-68F1-A236-28B9-A7E3419F89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D9F1-6DC7-C002-5752-EBA9755FDC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01B112-E210-EAD1-E9A4-020948471E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31C1EE-747B-49D7-B34F-989C335BDF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A9F46A-B16D-3DEC-A329-070AB0A078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3CD643-678C-C5E3-E45D-D3C1119BA7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3DBF58-94C9-CD92-1BC5-FA38496D07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B12BBA-623E-A1FD-CBB3-854E93BC3C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55ED64-418C-A2CC-D958-A3F06618EE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9A218A-7B0C-7B36-CB7D-BA374ED712A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93393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A10156-37A6-0EBA-6430-4DDDA4B1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9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83B3-A3ED-A8D6-C685-72AE900844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19E0F-F4A0-BC17-AE6A-FEB780E2D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3883B-09D3-7EC2-4B46-8D2C31E8D9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671AE0-F218-0EC1-D3DA-84ACA03AAD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96B597-AD5C-0DD8-9631-04CD6833A9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2BBF1B-A418-6B75-4F36-B279416F48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85A1F0-EB5F-E16B-45BA-F50B9BC3A0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F68289-7F1F-A8CE-5624-4A4E6B049F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26349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93948-DEE2-FEDE-F333-9873F3E8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10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3C40F-82B3-24D1-BDC6-3772C5F05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86164-E7E6-8C2E-F641-C7660CF50A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05795-2B91-4880-FF77-DFBBFB51B8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96DEA0-049C-6C30-EAA1-A6A34E3E94E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CA6E-E851-6AC5-01E7-7E1EF7AF8C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637A34-BACA-C100-04A5-E883549ABF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EE2F0E-7E19-A9FE-7B17-290FD12742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D40919-1157-3E1B-63E3-2972711756B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51226A-E6BA-D932-73A3-909F0414A69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95329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4CEDF-7D3F-892B-8C09-C931CBCC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11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B88B4-17A5-88F7-CA1E-BE2E92109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06F95-9D83-3189-61EA-3F596D608E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C484C-2B8F-D0B7-51BB-C362A10ECD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6251E05-9D2B-5B4E-49D2-A267CED6F2D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016CC4-0578-B6DB-4F2C-03C0A1F6CA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4526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9BB2D-54E1-1DCF-6A9B-ECA8E429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12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C5339-D427-D3EA-4D13-67BAB7896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06090-505A-8236-C431-86852564B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DA76B-2338-E1E4-995A-681B66464A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71F1C3F-8E00-926B-0D20-6106516111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14B94F-3262-7A95-6C16-D1BC7D5846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E6DCDA-B716-4947-CCFF-F422F6806FC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2BF366-717A-F5F6-30E6-0D48976596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262528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4AABE-4496-6C9E-80A0-8A3C29BA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13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450FB-8C5E-6D63-3D01-8A89CB8E7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7CE9E-7A9C-F77C-2680-59F38DFE5E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A671-BDD1-069B-4091-E5667A0707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22A758D-D48D-93D7-0DEC-98B2C9CB84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A2A77D-B868-0903-4E52-2A32047A03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5BC3D26-D7B3-5DAE-9621-0961F5C1E57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D99D32-2346-F965-4C8C-B77560FC86F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AAF3675-F0FD-C774-B255-8C544689D2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9929DF-7FCB-34FC-65E0-7122BF732A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52685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4A581-4894-D7EB-4F32-6087802D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14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DDC4-ABD9-8015-CC57-25AF107F8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BFB02-BE60-C3C0-9C61-5B1EBF0987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5008-6261-E3E0-1D60-982A47262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BF223F0-5715-F7A8-97DA-EFEF4DA0EF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AD3B32-8F27-DD52-ECE9-14060910C1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A54C298-566C-C012-96D4-28530AC1EF5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01820-B381-91B0-F3CA-D9A6FFA6EEF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AE7911F-01BF-5C53-79B3-5E1A389B49C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827635-6382-629A-F445-F93DBA3773C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65E042F-1C8A-C348-D58D-A47AD85C54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8FC73D-62C0-F10F-9C9F-29AD0DCC3B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641939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FAC70-305D-7000-DF0D-FDD11A75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15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7F0F4-3451-B089-560E-1E041AD37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F4A0F-9636-86A4-9CFA-0E28158E47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F0BC8-B3B1-D847-8A13-958863B02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C22F01-BA92-6E34-1D2A-937DE35B16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9DC522-9F92-F9AB-50FE-EAE81BA201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14A420-5B40-73B5-2F6D-57C79F7213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567938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05B8EA-2916-B988-82EB-E705A598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16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C209E-363D-173E-7DBD-48E2AED8F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925B-454B-154E-0485-FF5B93CBFD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31532-F77A-B423-53E2-FD2CBF9752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5EE9AE-53BA-798C-9001-D2D2ECCDB0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6D0D07B-E358-EDC1-D75C-3893F004C14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743531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32DD3-E645-ECD5-9ABC-A4F21B07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17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0C711-E0C1-49CA-3B96-3EBB8BF8C2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0660-81CA-20F6-4191-B7C264DE2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7A479-5314-1FF4-4C97-D44A0F7A34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E1BBAC-CB5F-4CDB-4EEC-A026524677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AD6E00-E496-3B9D-3E1C-F9BA56330DD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B714A4-82C8-BFA1-BCBD-72E6CF4BDD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4190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327D4-5613-4BF8-3009-A61511BC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18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3B449-C115-3960-00AA-F76550A9BD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F493C-07B1-FB04-E1C3-9F18D52A79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B8438-C75D-FBA0-9FEE-FB45140502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0AC2DF2-DDB3-5A2E-4890-B5C04D430B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25AFCD-B53B-6E88-C814-62F5831FB0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293812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41C94-7D8F-7C2F-439A-67F9986C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19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B446E-7853-B0FC-8AA3-A071542D21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FFBE6-6DB5-C9E8-C33F-F5011D7D04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87AEB-C079-7167-0F2C-131D1602F0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1FB568-7648-BFB5-782F-F713AD4A13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C5AA68-C1BB-C962-A93D-180136424A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4FC669-E625-69C1-7210-14683BCCCA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4FFC1D-CE79-ECBF-83D3-D23047C5F3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54263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92F12-09C3-C7CA-7B13-ABE6AACD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20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D77E-B35A-1FEE-9C21-66950FC094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D53C1-6CE0-D297-FAC4-A73219E296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99E0A-3D0F-FD9F-6F4D-090EDB2C81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EF9616-9881-8565-CF33-0021CB7C7B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DC69C4-E730-6067-8040-FBBF33C791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F8BD944-66CF-9D12-39D9-773981EF2C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912108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FA214-25A2-A2D1-0796-BDF566A8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21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754C1-EBC3-9783-1F6E-0C69B744C5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0B45C-0417-9E17-086A-8A4CF7B98B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6B54B-E87F-649F-B37D-AF0F0B1A33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3E9D70D-F613-CDA4-95D9-2FD9DB5E0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1526C2-724E-3CAA-431B-EF32845D6F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0D5260-991D-7205-1C66-49DF928141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004036-DD08-32E5-E684-6EAC04663B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A30025C-BBA5-FCDD-8796-55DBBC7F4C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720631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D259E0-2DB7-5092-5994-AD792C0B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22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D71A8-AE77-D0F6-A0BD-A7B81D006C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2AF77-3E41-3E27-1166-BA38FB8F94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92C0F-2E1B-0F70-0E95-3B268A9A24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A5AD3F-4D1A-0AD3-967E-DCF157796E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AF36A-3139-E5CA-35AD-12D2A28ECDB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EBBDEB-BD64-5A5C-D750-091468B670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F15609-D389-D5E3-B002-B8DBA12DD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C4218B-CB0D-6102-93A8-4B1C18DC64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332348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1E8DD-5940-10AB-2E8D-301A345B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23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A056C-64AE-93CC-F378-ADE9640A8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DC2D1-27CB-6B8D-212B-DAE568B7AA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BD115-63E6-D8BF-770B-6A4A2A5EC8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537545-9FB2-FBFB-4456-ED0E14D87A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3F7C61-1763-ADC9-FC32-CBD5A56C02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BF1F3F-20AA-2609-794A-6844A03080D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DB7A18-BE79-D195-42CF-9FE5CB5C21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44DE5-5965-B687-8F07-8884A1753B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385E48-A5A6-3121-3B75-7F6115FB08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94718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48048-525E-30FE-4E27-916EE953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24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45B66-D516-B4DF-4AB7-9C31A18AE1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A00B5-A2B4-EF9C-9A92-7EA50760F6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73028-DF83-3DAE-C0C7-336967670C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3F0136-4BC5-BAF0-7683-00710C34FF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65012E3-D732-29D3-85F7-B1B57B38AC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07AFA4-D075-1B79-2152-39C2DD2549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9A4FB9-AD0A-66C7-48A7-20DE0F7C8B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FB9C1A-76DB-D522-385B-FD6A5991A4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4AF115-3F8A-6A94-C811-078727FF5E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76269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32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323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139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What is MiNiFi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A lightweight agent built on the Apache NiFi platform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The tool exists in two variants: a Java agent and a C++ agent</a:t>
            </a:r>
          </a:p>
          <a:p>
            <a:pPr lvl="4"/>
            <a:r>
              <a:rPr lang="en-GB" dirty="0"/>
              <a:t>The proposed solution uses the Java agent — the C++ variant has no Parquet writer, which is a hard requirement</a:t>
            </a:r>
          </a:p>
          <a:p>
            <a:pPr lvl="4"/>
            <a:r>
              <a:rPr lang="en-GB" dirty="0"/>
              <a:t>Included in every NiFi release since version 2.0</a:t>
            </a:r>
          </a:p>
          <a:p>
            <a:pPr lvl="4"/>
            <a:r>
              <a:rPr lang="en-GB" dirty="0"/>
              <a:t>Uses the same processors as NiFi — identical functional scope</a:t>
            </a:r>
          </a:p>
          <a:p>
            <a:pPr lvl="4"/>
            <a:r>
              <a:rPr lang="en-GB" dirty="0"/>
              <a:t>No web user interface — the flow definition is stored as a file in Git</a:t>
            </a:r>
          </a:p>
        </p:txBody>
      </p:sp>
      <p:pic>
        <p:nvPicPr>
          <p:cNvPr id="7" name="Picture Placeholder" descr="Apache MiNiFi logo"/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tretch>
            <a:fillRect/>
          </a:stretch>
        </p:blipFill>
        <p:spPr>
          <a:xfrm>
            <a:off x="6830000" y="2548000"/>
            <a:ext cx="4400000" cy="2411000"/>
          </a:xfrm>
          <a:prstGeom prst="rect">
            <a:avLst/>
          </a:prstGeom>
        </p:spPr>
      </p:pic>
      <p:sp>
        <p:nvSpPr>
          <p:cNvPr id="8" name="Picture Caption Placeholder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000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Why MiNiFi Fits Our Case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Using ready-made components instead of custom development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Tile1 Body idx1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4"/>
            <a:r>
              <a:rPr lang="en-GB" dirty="0"/>
              <a:t>Oracle, MS SQL Server, PostgreSQL via JDBC</a:t>
            </a:r>
          </a:p>
          <a:p>
            <a:pPr lvl="4"/>
            <a:r>
              <a:rPr lang="en-GB" dirty="0"/>
              <a:t>Incremental extraction support</a:t>
            </a:r>
          </a:p>
        </p:txBody>
      </p:sp>
      <p:sp>
        <p:nvSpPr>
          <p:cNvPr id="7" name="Tile3 Body idx1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2"/>
            <a:r>
              <a:rPr lang="en-GB" dirty="0"/>
              <a:t>Built-in support for reading and writing Parquet</a:t>
            </a:r>
          </a:p>
          <a:p>
            <a:pPr lvl="2"/>
            <a:r>
              <a:rPr lang="en-GB" dirty="0"/>
              <a:t>Direct access to S3 storage</a:t>
            </a:r>
          </a:p>
        </p:txBody>
      </p:sp>
      <p:sp>
        <p:nvSpPr>
          <p:cNvPr id="8" name="Tile1 Header idx1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GB" dirty="0"/>
              <a:t>Databases</a:t>
            </a:r>
          </a:p>
        </p:txBody>
      </p:sp>
      <p:sp>
        <p:nvSpPr>
          <p:cNvPr id="9" name="Tile3 Header idx1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GB" dirty="0"/>
              <a:t>Parquet and S3</a:t>
            </a:r>
          </a:p>
        </p:txBody>
      </p:sp>
      <p:sp>
        <p:nvSpPr>
          <p:cNvPr id="10" name="Tile2 Body idx2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4"/>
            <a:r>
              <a:rPr lang="en-GB" dirty="0"/>
              <a:t>Native processors for both technologies</a:t>
            </a:r>
          </a:p>
          <a:p>
            <a:pPr lvl="4"/>
            <a:r>
              <a:rPr lang="en-GB" dirty="0"/>
              <a:t>One tool instead of combining AirPy and NiFi</a:t>
            </a:r>
          </a:p>
        </p:txBody>
      </p:sp>
      <p:sp>
        <p:nvSpPr>
          <p:cNvPr id="11" name="Tile4 Body idx2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2"/>
            <a:r>
              <a:rPr lang="en-GB" dirty="0"/>
              <a:t>The flow definition is a file, not just a UI-only configuration</a:t>
            </a:r>
          </a:p>
          <a:p>
            <a:pPr lvl="2"/>
            <a:r>
              <a:rPr lang="en-GB" dirty="0"/>
              <a:t>Versioned in Git, reviewed via pull requests</a:t>
            </a:r>
          </a:p>
        </p:txBody>
      </p:sp>
      <p:sp>
        <p:nvSpPr>
          <p:cNvPr id="12" name="Tile4 Header idx2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/>
            <a:r>
              <a:rPr lang="en-GB" dirty="0"/>
              <a:t>Flow as Code</a:t>
            </a:r>
          </a:p>
        </p:txBody>
      </p:sp>
      <p:sp>
        <p:nvSpPr>
          <p:cNvPr id="13" name="Tile2 Header idx2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lvl="0"/>
            <a:r>
              <a:rPr lang="en-GB" dirty="0"/>
              <a:t>Kafka and Elasticsearch</a:t>
            </a:r>
          </a:p>
        </p:txBody>
      </p:sp>
    </p:spTree>
    <p:extLst>
      <p:ext uri="{BB962C8B-B14F-4D97-AF65-F5344CB8AC3E}">
        <p14:creationId xmlns:p14="http://schemas.microsoft.com/office/powerpoint/2010/main" val="11000000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GB" dirty="0"/>
              <a:t>Ingest Tool for DataMesh</a:t>
            </a:r>
          </a:p>
        </p:txBody>
      </p:sp>
      <p:sp>
        <p:nvSpPr>
          <p:cNvPr id="3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Recommended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000001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Recap of Previous Proposals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Starting point before the current evaluation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The previous evaluation round for the DAKVI squad covered AirPy, NiFi and Infa; the squad recommended AirPy</a:t>
            </a:r>
          </a:p>
          <a:p>
            <a:pPr lvl="4"/>
            <a:r>
              <a:rPr lang="en-GB" dirty="0"/>
              <a:t>The B2 — Template Library concept was subsequently approved at ODP SRF</a:t>
            </a:r>
          </a:p>
          <a:p>
            <a:pPr lvl="4"/>
            <a:r>
              <a:rPr lang="en-GB" dirty="0"/>
              <a:t>Based on a proposal from the vendor (BigHub), the Meltano alternative was added to the evaluation, followed by MiNiFi</a:t>
            </a:r>
          </a:p>
          <a:p>
            <a:pPr lvl="4"/>
            <a:r>
              <a:rPr lang="en-GB" dirty="0"/>
              <a:t>Both alternatives were verified through a smaller-scale 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110000010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Rejection of the Meltano Alternative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Proof of Concept results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Export of 80M records: ~4 hours</a:t>
            </a:r>
          </a:p>
          <a:p>
            <a:pPr lvl="4"/>
            <a:r>
              <a:rPr lang="en-GB" dirty="0"/>
              <a:t>Others: AirPy 5 min, Informatica 8 min, NiFi 15 min — an order of magnitude faster</a:t>
            </a:r>
          </a:p>
          <a:p>
            <a:pPr lvl="4"/>
            <a:r>
              <a:rPr lang="en-GB" dirty="0"/>
              <a:t>Root cause (partial): Singer’s BATCH mechanism — writes to intermediate storage before loading</a:t>
            </a:r>
          </a:p>
          <a:p>
            <a:pPr lvl="4"/>
            <a:r>
              <a:rPr lang="en-GB" dirty="0"/>
              <a:t>Optimization possible, but not pursued — uncertain payoff, per-flow effort</a:t>
            </a:r>
          </a:p>
          <a:p>
            <a:pPr lvl="4"/>
            <a:r>
              <a:rPr lang="en-GB" dirty="0"/>
              <a:t>No connector exists to export data from Teradata (import only)</a:t>
            </a:r>
          </a:p>
          <a:p>
            <a:pPr lvl="4"/>
            <a:r>
              <a:rPr lang="en-GB" dirty="0"/>
              <a:t>→ Meltano rejected</a:t>
            </a:r>
          </a:p>
        </p:txBody>
      </p:sp>
    </p:spTree>
    <p:extLst>
      <p:ext uri="{BB962C8B-B14F-4D97-AF65-F5344CB8AC3E}">
        <p14:creationId xmlns:p14="http://schemas.microsoft.com/office/powerpoint/2010/main" val="110000010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Architecture Independent of the Tool Choice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Versioned Template Library principle (variant B2)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The chosen architectural model remains valid regardless of the outcome of the tool evaluation</a:t>
            </a:r>
          </a:p>
          <a:p>
            <a:pPr lvl="4"/>
            <a:r>
              <a:rPr lang="en-GB" dirty="0"/>
              <a:t>The business squad deploys a versioned copy of the template and its own configuration in its own Git repository</a:t>
            </a:r>
          </a:p>
          <a:p>
            <a:pPr lvl="4"/>
            <a:r>
              <a:rPr lang="en-GB" dirty="0"/>
              <a:t>The business squad is responsible for deployment, operation, and upgrade decisions</a:t>
            </a:r>
          </a:p>
          <a:p>
            <a:pPr lvl="4"/>
            <a:r>
              <a:rPr lang="en-GB" dirty="0"/>
              <a:t>The configuration components remain unchanged: Object Schema, Export Configuration, Run Conditions</a:t>
            </a:r>
          </a:p>
          <a:p>
            <a:pPr lvl="4"/>
            <a:r>
              <a:rPr lang="en-GB" dirty="0"/>
              <a:t>The choice of the specific tool (AirPy, MiNiFi) affects only the implementation, not how business squads use this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000001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NiFi vs. MiNiFi Comparison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Source of the improved score and its cause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Intro Text"/>
          <p:cNvSpPr txBox="1"/>
          <p:nvPr/>
        </p:nvSpPr>
        <p:spPr>
          <a:xfrm>
            <a:off x="390000" y="1060000"/>
            <a:ext cx="11410000" cy="64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400" dirty="0"/>
              <a:t>Both solutions use the same Apache NiFi processors. The difference lies in the deployment model — MiNiFi runs as a standalone pod started from Airflow, the flow definition is stored as a file in Git, and credential access is handled by the combination of Airflow and Kubernetes. The improved score therefore comes from the deployment model, not from the tool’s core.</a:t>
            </a:r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/>
        </p:nvGraphicFramePr>
        <p:xfrm>
          <a:off x="390000" y="1780000"/>
          <a:ext cx="1141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0000"/>
                <a:gridCol w="1900000"/>
                <a:gridCol w="1900000"/>
                <a:gridCol w="1810000"/>
              </a:tblGrid>
              <a:tr h="400000">
                <a:tc>
                  <a:txBody>
                    <a:bodyPr/>
                    <a:lstStyle/>
                    <a:p>
                      <a:r>
                        <a:rPr lang="en-GB" sz="1200" b="1" dirty="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MiNiFi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Difference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YAML configuration consistency in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-7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Git support in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-5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Alignment with target cloud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3 (in K8s)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-4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Reuse potential in other 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 (DI?)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 (DI)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-4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Horizontal scalability (cross-load)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 (with K8s)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-4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Ease of environment promotion in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-3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Airflow SOGE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6 (PJE-REST)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-3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CyberArk / Vault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-2</a:t>
                      </a:r>
                    </a:p>
                  </a:txBody>
                  <a:tcPr/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GB" sz="1100" dirty="0"/>
                        <a:t>Squad autonomy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Note Text"/>
          <p:cNvSpPr txBox="1"/>
          <p:nvPr/>
        </p:nvSpPr>
        <p:spPr>
          <a:xfrm>
            <a:off x="390000" y="5350000"/>
            <a:ext cx="11410000" cy="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200" i="1" dirty="0"/>
              <a:t>There is a moderate regression in support for incremental loads (from 0 to 2) — the solution does not use NiFi’s native processor state, but its own watermark management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10000010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Rationale — Why AirPy Was Not Selected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A strong score does not necessarily mean the best choice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AirPy achieves the best results in several categories — performance, operational parameters, availability of internal expertise, compliance with Greenbook requirements</a:t>
            </a:r>
          </a:p>
          <a:p>
            <a:pPr lvl="4"/>
            <a:r>
              <a:rPr lang="en-GB" dirty="0"/>
              <a:t>However, it requires developing and maintaining a custom framework within Airflow (watermark management, schema validation, Parquet generation)</a:t>
            </a:r>
          </a:p>
          <a:p>
            <a:pPr lvl="4"/>
            <a:r>
              <a:rPr lang="en-GB" dirty="0"/>
              <a:t>Supporting Kafka and Elasticsearch would require adding a second tool (NiFi), meaning operating two technology stacks and two CI/CD processes</a:t>
            </a:r>
          </a:p>
          <a:p>
            <a:pPr lvl="4"/>
            <a:r>
              <a:rPr lang="en-GB" dirty="0"/>
              <a:t>MiNiFi, by contrast, covers all source systems with a single tool, using ready-made components instead of custom development</a:t>
            </a:r>
          </a:p>
        </p:txBody>
      </p:sp>
    </p:spTree>
    <p:extLst>
      <p:ext uri="{BB962C8B-B14F-4D97-AF65-F5344CB8AC3E}">
        <p14:creationId xmlns:p14="http://schemas.microsoft.com/office/powerpoint/2010/main" val="11000001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Proof of Concept Results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Comparison of the remaining alternatives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graphicFrame>
        <p:nvGraphicFramePr>
          <p:cNvPr id="6" name="PoC Table"/>
          <p:cNvGraphicFramePr>
            <a:graphicFrameLocks noGrp="1"/>
          </p:cNvGraphicFramePr>
          <p:nvPr/>
        </p:nvGraphicFramePr>
        <p:xfrm>
          <a:off x="390000" y="1900000"/>
          <a:ext cx="11410000" cy="1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/>
                <a:gridCol w="2002500"/>
                <a:gridCol w="2002500"/>
                <a:gridCol w="2002500"/>
                <a:gridCol w="2002500"/>
              </a:tblGrid>
              <a:tr h="450000">
                <a:tc>
                  <a:txBody>
                    <a:bodyPr/>
                    <a:lstStyle/>
                    <a:p>
                      <a:endParaRPr lang="en-GB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AirPy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Informatica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00" b="1" dirty="0"/>
                        <a:t>MiNiFi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GB" sz="1200" dirty="0"/>
                        <a:t>Export of 80 million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8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10 minutes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GB" sz="1200" dirty="0"/>
                        <a:t>CyberArk integration and password 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issues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not verified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0001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Airflow to Kubernetes via REST API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A standard, reusable integration pattern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Airflow’s KubernetesPodOperator communicates with the Kubernetes API server using a standard REST API</a:t>
            </a:r>
          </a:p>
          <a:p>
            <a:pPr lvl="4"/>
            <a:r>
              <a:rPr lang="en-GB" dirty="0"/>
              <a:t>The connection between SOGE Airflow and Kubernetes in the KB environment is implemented purely as HTTPS REST calls, with no special protocol required</a:t>
            </a:r>
          </a:p>
          <a:p>
            <a:pPr lvl="4"/>
            <a:r>
              <a:rPr lang="en-GB" dirty="0"/>
              <a:t>HTTPS REST API should already be permitted on the network pass-throughs between SOGE and KB</a:t>
            </a:r>
          </a:p>
          <a:p>
            <a:pPr lvl="4"/>
            <a:r>
              <a:rPr lang="en-GB" dirty="0"/>
              <a:t>Security is generally favorable toward REST API</a:t>
            </a:r>
          </a:p>
          <a:p>
            <a:pPr lvl="4"/>
            <a:r>
              <a:rPr lang="en-GB" dirty="0"/>
              <a:t>This could become a general pattern for connecting SOGE Airflow with the KB environment</a:t>
            </a:r>
          </a:p>
        </p:txBody>
      </p:sp>
      <p:sp>
        <p:nvSpPr>
          <p:cNvPr id="7" name="Code Card"/>
          <p:cNvSpPr/>
          <p:nvPr/>
        </p:nvSpPr>
        <p:spPr>
          <a:xfrm>
            <a:off x="6173167" y="1109013"/>
            <a:ext cx="5715000" cy="4200000"/>
          </a:xfrm>
          <a:prstGeom prst="roundRect">
            <a:avLst>
              <a:gd name="adj" fmla="val 4281"/>
            </a:avLst>
          </a:prstGeom>
          <a:solidFill>
            <a:srgbClr val="F5F5F5"/>
          </a:solidFill>
          <a:ln>
            <a:solidFill>
              <a:srgbClr val="D9D9D9"/>
            </a:solidFill>
          </a:ln>
        </p:spPr>
        <p:txBody>
          <a:bodyPr wrap="square" lIns="180000" tIns="180000" rIns="180000" bIns="180000" anchor="t">
            <a:normAutofit/>
          </a:bodyPr>
          <a:lstStyle/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from airflow.providers.cncf.kubernetes.operators.pod \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import KubernetesPodOperator</a:t>
            </a:r>
          </a:p>
          <a:p>
            <a:pPr>
              <a:buNone/>
            </a:pPr>
            <a:endParaRPr lang="en-GB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run_minifi = KubernetesPodOperator(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task_id="run_minifi_crm_export",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namespace="crm-squad-ns",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image="harbor.kb.cz/minifi/minifi-template:1.4.0",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cmds=["/opt/minifi/bin/run.sh"],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arguments=["--config", "/config/exports.yaml"],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kubernetes_conn_id="kb_onprem_k8s",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get_logs=True,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    is_delete_operator_pod=True,</a:t>
            </a:r>
          </a:p>
          <a:p>
            <a:pPr>
              <a:buNone/>
            </a:pPr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8" name="Live Demo Note"/>
          <p:cNvSpPr txBox="1"/>
          <p:nvPr/>
        </p:nvSpPr>
        <p:spPr>
          <a:xfrm>
            <a:off x="6173167" y="5400000"/>
            <a:ext cx="5715000" cy="65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GB" sz="1200" i="1" dirty="0"/>
              <a:t>Live demo: a real DAG will be run in Airflow to show a task spinning up a pod in Kubernetes.</a:t>
            </a:r>
          </a:p>
        </p:txBody>
      </p:sp>
    </p:spTree>
    <p:extLst>
      <p:ext uri="{BB962C8B-B14F-4D97-AF65-F5344CB8AC3E}">
        <p14:creationId xmlns:p14="http://schemas.microsoft.com/office/powerpoint/2010/main" val="110000010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Recommendation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Target tool and next step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Body Left Placeholder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b="1" dirty="0"/>
              <a:t>Recommended tool: Apache MiNiFi (Java agent), run as a pod in Kubernetes, started per run from SOGE Airflow</a:t>
            </a:r>
            <a:r>
              <a:rPr lang="en-GB" dirty="0"/>
              <a:t> — replacing the previously recommended AirPy</a:t>
            </a:r>
          </a:p>
          <a:p>
            <a:pPr lvl="4"/>
            <a:r>
              <a:rPr lang="en-GB" dirty="0"/>
              <a:t>A single tool for all sources, including Kafka and Elasticsearch — no combination of two tools</a:t>
            </a:r>
          </a:p>
          <a:p>
            <a:pPr lvl="4"/>
            <a:r>
              <a:rPr lang="en-GB" dirty="0"/>
              <a:t>Ready-made components instead of a custom framework in Airflow</a:t>
            </a:r>
          </a:p>
          <a:p>
            <a:pPr lvl="4"/>
            <a:r>
              <a:rPr lang="en-GB" dirty="0"/>
              <a:t>Best result in Functional Capabilities, strong CI/CD and Git integration</a:t>
            </a:r>
          </a:p>
          <a:p>
            <a:pPr lvl="4"/>
            <a:r>
              <a:rPr lang="en-GB" dirty="0"/>
              <a:t>No licensing costs, good alignment with the target architecture (K8s, Airflow, S3, Versioned Template Library)</a:t>
            </a:r>
          </a:p>
          <a:p>
            <a:pPr lvl="4"/>
            <a:r>
              <a:rPr lang="en-GB" dirty="0"/>
              <a:t>AirPy remains a technically strong alternative, or fallback option, should the open validation items not be fulfilled</a:t>
            </a:r>
          </a:p>
          <a:p>
            <a:pPr lvl="4"/>
            <a:r>
              <a:rPr lang="en-GB" b="1" dirty="0"/>
              <a:t>Requested decision: approve MiNiFi as the target solution and proceed with validating the open items</a:t>
            </a:r>
          </a:p>
        </p:txBody>
      </p:sp>
    </p:spTree>
    <p:extLst>
      <p:ext uri="{BB962C8B-B14F-4D97-AF65-F5344CB8AC3E}">
        <p14:creationId xmlns:p14="http://schemas.microsoft.com/office/powerpoint/2010/main" val="110000010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Planned Next Steps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From technical validation to a go/no-go decision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sp>
        <p:nvSpPr>
          <p:cNvPr id="6" name="Tile1 Body idx1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CyberArk integration and password rotation (Airflow → Secret → env var)</a:t>
            </a:r>
          </a:p>
          <a:p>
            <a:pPr lvl="4"/>
            <a:r>
              <a:rPr lang="en-GB" dirty="0"/>
              <a:t>Pod lifecycle (wrapper / NiFi Stateless) — reliable detection of run completion</a:t>
            </a:r>
          </a:p>
          <a:p>
            <a:pPr lvl="4"/>
            <a:r>
              <a:rPr lang="en-GB" dirty="0"/>
              <a:t>Availability of processors (Parquet, Kafka, Elasticsearch, AWS/S3) in the MiNiFi Java distribution</a:t>
            </a:r>
          </a:p>
        </p:txBody>
      </p:sp>
      <p:sp>
        <p:nvSpPr>
          <p:cNvPr id="7" name="Tile3 Body idx1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lvl="2"/>
            <a:r>
              <a:rPr lang="en-GB" dirty="0"/>
              <a:t>Confirming compliance with the Société Générale Greenbook</a:t>
            </a:r>
          </a:p>
          <a:p>
            <a:pPr lvl="2"/>
            <a:r>
              <a:rPr lang="en-GB" dirty="0"/>
              <a:t>Effort estimate in person-days (environment setup, upskilling, migration)</a:t>
            </a:r>
          </a:p>
          <a:p>
            <a:pPr lvl="2"/>
            <a:r>
              <a:rPr lang="en-GB" dirty="0"/>
              <a:t>Squad onboarding process (namespace, ServiceAccount, Conjur) with the Platform team</a:t>
            </a:r>
          </a:p>
        </p:txBody>
      </p:sp>
      <p:sp>
        <p:nvSpPr>
          <p:cNvPr id="8" name="Tile1 Header idx1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en-GB" dirty="0"/>
              <a:t>Phase 1 — Technical Validation (PoC)</a:t>
            </a:r>
          </a:p>
        </p:txBody>
      </p:sp>
      <p:sp>
        <p:nvSpPr>
          <p:cNvPr id="9" name="Tile3 Header idx1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GB" dirty="0"/>
              <a:t>Phase 3 — Governance and Compliance</a:t>
            </a:r>
          </a:p>
        </p:txBody>
      </p:sp>
      <p:sp>
        <p:nvSpPr>
          <p:cNvPr id="10" name="Tile2 Body idx20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lvl="4"/>
            <a:r>
              <a:rPr lang="en-GB" dirty="0"/>
              <a:t>Testing on larger data volumes</a:t>
            </a:r>
          </a:p>
          <a:p>
            <a:pPr lvl="4"/>
            <a:r>
              <a:rPr lang="en-GB" dirty="0"/>
              <a:t>Teradata connectivity and performance</a:t>
            </a:r>
          </a:p>
          <a:p>
            <a:pPr lvl="4"/>
            <a:r>
              <a:rPr lang="en-GB" dirty="0"/>
              <a:t>Validating the execution granularity model (pod per flow vs. per object) in real operation</a:t>
            </a:r>
          </a:p>
        </p:txBody>
      </p:sp>
      <p:sp>
        <p:nvSpPr>
          <p:cNvPr id="11" name="Tile4 Body idx21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pPr lvl="2"/>
            <a:r>
              <a:rPr lang="en-GB" dirty="0"/>
              <a:t>Summary of PoC results → go/no-go decision for full migration</a:t>
            </a:r>
          </a:p>
        </p:txBody>
      </p:sp>
      <p:sp>
        <p:nvSpPr>
          <p:cNvPr id="12" name="Tile4 Header idx2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/>
            <a:r>
              <a:rPr lang="en-GB" dirty="0"/>
              <a:t>Decision Checkpoint</a:t>
            </a:r>
          </a:p>
        </p:txBody>
      </p:sp>
      <p:sp>
        <p:nvSpPr>
          <p:cNvPr id="13" name="Tile2 Header idx2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lvl="0"/>
            <a:r>
              <a:rPr lang="en-GB" dirty="0"/>
              <a:t>Phase 2 — Performance and Scale</a:t>
            </a:r>
          </a:p>
        </p:txBody>
      </p:sp>
    </p:spTree>
    <p:extLst>
      <p:ext uri="{BB962C8B-B14F-4D97-AF65-F5344CB8AC3E}">
        <p14:creationId xmlns:p14="http://schemas.microsoft.com/office/powerpoint/2010/main" val="110000010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3" name="Title Placehol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GB" dirty="0"/>
              <a:t>NiFi vs. MiNiFi — Key Differences</a:t>
            </a:r>
          </a:p>
        </p:txBody>
      </p:sp>
      <p:sp>
        <p:nvSpPr>
          <p:cNvPr id="4" name="Subtitle Placeholder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en-GB" dirty="0"/>
              <a:t>A product difference, not an evaluation score (that’s covered later)</a:t>
            </a:r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GB" dirty="0"/>
          </a:p>
        </p:txBody>
      </p:sp>
      <p:graphicFrame>
        <p:nvGraphicFramePr>
          <p:cNvPr id="6" name="Differences Table"/>
          <p:cNvGraphicFramePr>
            <a:graphicFrameLocks noGrp="1"/>
          </p:cNvGraphicFramePr>
          <p:nvPr/>
        </p:nvGraphicFramePr>
        <p:xfrm>
          <a:off x="390000" y="1780000"/>
          <a:ext cx="11410000" cy="3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4100000"/>
                <a:gridCol w="4110000"/>
              </a:tblGrid>
              <a:tr h="450000">
                <a:tc>
                  <a:txBody>
                    <a:bodyPr/>
                    <a:lstStyle/>
                    <a:p>
                      <a:endParaRPr lang="en-GB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NiFi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MiNiFi (Java)</a:t>
                      </a:r>
                    </a:p>
                  </a:txBody>
                  <a:tcPr/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lang="en-GB" sz="1100" b="1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Web UI (browser-based flow editor)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No UI — started from the command line (minifi.sh start/stop)</a:t>
                      </a:r>
                    </a:p>
                  </a:txBody>
                  <a:tcPr/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lang="en-GB" sz="1100" b="1" dirty="0"/>
                        <a:t>Flow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Built interactively in the UI, held internally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 file (JSON since NiFi 2) that the agent simply runs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GB" sz="1100" b="1" dirty="0"/>
                        <a:t>Processors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Full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Same set — since NiFi 2 shares the same code, no limitation</a:t>
                      </a:r>
                    </a:p>
                  </a:txBody>
                  <a:tcPr/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lang="en-GB" sz="1100" b="1" dirty="0"/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Typically a cluster with UI/coordination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 single standalone agent, not clustered in this sense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GB" sz="1100" b="1" dirty="0"/>
                        <a:t>Resource footprint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Higher (full stack including UI)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Lower — lightweight profile</a:t>
                      </a:r>
                    </a:p>
                  </a:txBody>
                  <a:tcPr/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lang="en-GB" sz="1100" b="1" dirty="0"/>
                        <a:t>Remote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Via cluster UI/API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Its own C2 (Command and Control) protocol for many agents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000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/>
      </a:spPr>
      <a:bodyPr wrap="square" lIns="0" tIns="0" rIns="0" bIns="0" rtlCol="0" anchor="ctr"/>
      <a:lstStyle>
        <a:defPPr algn="l">
          <a:lnSpc>
            <a:spcPts val="1800"/>
          </a:lnSpc>
          <a:defRPr sz="1350" kern="0" spc="-34" dirty="0">
            <a:solidFill>
              <a:srgbClr val="909090">
                <a:alpha val="100000"/>
              </a:srgbClr>
            </a:solidFill>
            <a:latin typeface="Source Sans Pro SemiBold" pitchFamily="34" charset="0"/>
            <a:ea typeface="Source Sans Pro SemiBold" pitchFamily="34" charset="-122"/>
            <a:cs typeface="Source Sans Pro SemiBold" pitchFamily="34" charset="-12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</TotalTime>
  <Words>218</Words>
  <Application>Microsoft Office PowerPoint</Application>
  <PresentationFormat>Širokoúhlá obrazovka</PresentationFormat>
  <Paragraphs>64</Paragraphs>
  <Slides>29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Source Sans Pro</vt:lpstr>
      <vt:lpstr>Source Sans Pro SemiBold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Lukas Pitter</dc:creator>
  <cp:lastModifiedBy>PAVEL JERABEK</cp:lastModifiedBy>
  <cp:revision>24</cp:revision>
  <dcterms:created xsi:type="dcterms:W3CDTF">2024-01-03T16:58:28Z</dcterms:created>
  <dcterms:modified xsi:type="dcterms:W3CDTF">2026-09-23T17:27:05Z</dcterms:modified>
</cp:coreProperties>
</file>